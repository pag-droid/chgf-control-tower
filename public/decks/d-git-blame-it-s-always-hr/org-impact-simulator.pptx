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237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C840-B8CA-267A-D4D4-B6885780A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C8272-8280-E466-D0AF-EC361810E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66217-8115-7789-64E7-F03BE1807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06789-A9A5-F1CC-286C-CB82F3FE46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84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HACKATHON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D3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 Impact Simulator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workforce scenario planning engine that shows leaders the likely</a:t>
            </a:r>
            <a:endParaRPr lang="en-US" sz="1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change before it happens.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8803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3840480"/>
            <a:ext cx="502920" cy="502920"/>
          </a:xfrm>
          <a:prstGeom prst="ellipse">
            <a:avLst/>
          </a:prstGeom>
          <a:solidFill>
            <a:srgbClr val="248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645920" y="36576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shape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86200" y="3657600"/>
            <a:ext cx="28803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069080" y="3840480"/>
            <a:ext cx="502920" cy="502920"/>
          </a:xfrm>
          <a:prstGeom prst="ellipse">
            <a:avLst/>
          </a:prstGeom>
          <a:solidFill>
            <a:srgbClr val="3AC9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09160" y="36576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Sentiment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949440" y="3657600"/>
            <a:ext cx="28803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32320" y="3840480"/>
            <a:ext cx="502920" cy="502920"/>
          </a:xfrm>
          <a:prstGeom prst="ellipse">
            <a:avLst/>
          </a:prstGeom>
          <a:solidFill>
            <a:srgbClr val="D833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7772400" y="36576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Movement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DAD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Blame (It’s Always HR)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Foster · Erica Paglieri · Sadia Sleweon · Reese McGillie</a:t>
            </a:r>
            <a:endParaRPr lang="en-US" sz="1200" dirty="0"/>
          </a:p>
        </p:txBody>
      </p:sp>
      <p:pic>
        <p:nvPicPr>
          <p:cNvPr id="24" name="Graphic 23" descr="Flowchart outline">
            <a:extLst>
              <a:ext uri="{FF2B5EF4-FFF2-40B4-BE49-F238E27FC236}">
                <a16:creationId xmlns:a16="http://schemas.microsoft.com/office/drawing/2014/main" id="{C4290BFC-F350-EF77-05EE-1FDA915C74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761" y="3883320"/>
            <a:ext cx="431078" cy="431078"/>
          </a:xfrm>
          <a:prstGeom prst="rect">
            <a:avLst/>
          </a:prstGeom>
        </p:spPr>
      </p:pic>
      <p:pic>
        <p:nvPicPr>
          <p:cNvPr id="26" name="Graphic 25" descr="Drama outline">
            <a:extLst>
              <a:ext uri="{FF2B5EF4-FFF2-40B4-BE49-F238E27FC236}">
                <a16:creationId xmlns:a16="http://schemas.microsoft.com/office/drawing/2014/main" id="{2D878DF4-84E2-9795-4A44-0A644370D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4002" y="3912322"/>
            <a:ext cx="373075" cy="373075"/>
          </a:xfrm>
          <a:prstGeom prst="rect">
            <a:avLst/>
          </a:prstGeom>
        </p:spPr>
      </p:pic>
      <p:pic>
        <p:nvPicPr>
          <p:cNvPr id="28" name="Graphic 27" descr="Circles with arrows outline">
            <a:extLst>
              <a:ext uri="{FF2B5EF4-FFF2-40B4-BE49-F238E27FC236}">
                <a16:creationId xmlns:a16="http://schemas.microsoft.com/office/drawing/2014/main" id="{76C644D7-44DB-03C2-52D3-2EFB8B91BF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6541" y="3871620"/>
            <a:ext cx="454477" cy="4544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D3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decides on intuition,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D3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evidence.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640080" cy="640080"/>
          </a:xfrm>
          <a:prstGeom prst="ellipse">
            <a:avLst/>
          </a:prstGeom>
          <a:solidFill>
            <a:srgbClr val="9B32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691640" y="269748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talent data explains what already happened but it doesn’t model what a proposed change will do. Leaders face this gap for changes of every kind: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794760"/>
            <a:ext cx="9601200" cy="685800"/>
          </a:xfrm>
          <a:prstGeom prst="roundRect">
            <a:avLst>
              <a:gd name="adj" fmla="val 13333"/>
            </a:avLst>
          </a:prstGeom>
          <a:solidFill>
            <a:srgbClr val="EFEDE6"/>
          </a:solidFill>
          <a:ln w="12700">
            <a:solidFill>
              <a:srgbClr val="E5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51560" y="4041648"/>
            <a:ext cx="182880" cy="182880"/>
          </a:xfrm>
          <a:prstGeom prst="ellipse">
            <a:avLst/>
          </a:prstGeom>
          <a:solidFill>
            <a:srgbClr val="C7C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17320" y="37947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reorg, hiring freeze, or wind-down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9601200" cy="685800"/>
          </a:xfrm>
          <a:prstGeom prst="roundRect">
            <a:avLst>
              <a:gd name="adj" fmla="val 13333"/>
            </a:avLst>
          </a:prstGeom>
          <a:solidFill>
            <a:srgbClr val="EFEDE6"/>
          </a:solidFill>
          <a:ln w="12700">
            <a:solidFill>
              <a:srgbClr val="E5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51560" y="4864608"/>
            <a:ext cx="182880" cy="182880"/>
          </a:xfrm>
          <a:prstGeom prst="ellipse">
            <a:avLst/>
          </a:prstGeom>
          <a:solidFill>
            <a:srgbClr val="C7C2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417320" y="46177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policy or operational process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5440680"/>
            <a:ext cx="96012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225">
            <a:solidFill>
              <a:srgbClr val="EBC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51560" y="5687568"/>
            <a:ext cx="182880" cy="182880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1732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external shift — labor market, funding, economic conditions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052560" y="5614416"/>
            <a:ext cx="1280160" cy="338328"/>
          </a:xfrm>
          <a:prstGeom prst="roundRect">
            <a:avLst>
              <a:gd name="adj" fmla="val 48649"/>
            </a:avLst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52560" y="561441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FOCUS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6263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prototype models external shifts only — not internal decisions like “we choose to reorg” — unless framed as a response to one.</a:t>
            </a:r>
            <a:endParaRPr lang="en-US" sz="1300" dirty="0"/>
          </a:p>
        </p:txBody>
      </p:sp>
      <p:pic>
        <p:nvPicPr>
          <p:cNvPr id="20" name="Graphic 19" descr="High voltage outline">
            <a:extLst>
              <a:ext uri="{FF2B5EF4-FFF2-40B4-BE49-F238E27FC236}">
                <a16:creationId xmlns:a16="http://schemas.microsoft.com/office/drawing/2014/main" id="{F8B51A2E-A337-2FD0-16B0-2367AFB66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96" y="2780005"/>
            <a:ext cx="417012" cy="417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 a “what if,” get a grounded projection.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Claude Code–powered simulator ingests anonymized historical talent data and projects the impact of an external shift across three dimensions while showing its reasoning at every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329184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3200400"/>
            <a:ext cx="777240" cy="777240"/>
          </a:xfrm>
          <a:prstGeom prst="ellipse">
            <a:avLst/>
          </a:prstGeom>
          <a:solidFill>
            <a:srgbClr val="248A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82" y="340248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shape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4617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Spans, layers, and structural ratios shift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79976" y="2860950"/>
            <a:ext cx="329184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27448" y="3200400"/>
            <a:ext cx="777240" cy="777240"/>
          </a:xfrm>
          <a:prstGeom prst="ellipse">
            <a:avLst/>
          </a:prstGeom>
          <a:solidFill>
            <a:srgbClr val="3AC9B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530" y="340248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Sentiment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27448" y="4617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shift based on comparable past changes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991856" y="2834640"/>
            <a:ext cx="329184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11896" y="3200400"/>
            <a:ext cx="777240" cy="777240"/>
          </a:xfrm>
          <a:prstGeom prst="ellipse">
            <a:avLst/>
          </a:prstGeom>
          <a:solidFill>
            <a:srgbClr val="D8339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311896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Movement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11896" y="4617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 to attract and retain talent.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2960" y="5943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input data is anonymized and desensitized before use.</a:t>
            </a:r>
            <a:endParaRPr lang="en-US" sz="1200" dirty="0"/>
          </a:p>
        </p:txBody>
      </p:sp>
      <p:pic>
        <p:nvPicPr>
          <p:cNvPr id="22" name="Graphic 21" descr="Flowchart outline">
            <a:extLst>
              <a:ext uri="{FF2B5EF4-FFF2-40B4-BE49-F238E27FC236}">
                <a16:creationId xmlns:a16="http://schemas.microsoft.com/office/drawing/2014/main" id="{6D583247-9DE0-265E-90BD-B2FEAB909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7624" y="3285024"/>
            <a:ext cx="607990" cy="607990"/>
          </a:xfrm>
          <a:prstGeom prst="rect">
            <a:avLst/>
          </a:prstGeom>
        </p:spPr>
      </p:pic>
      <p:pic>
        <p:nvPicPr>
          <p:cNvPr id="24" name="Graphic 23" descr="Drama outline">
            <a:extLst>
              <a:ext uri="{FF2B5EF4-FFF2-40B4-BE49-F238E27FC236}">
                <a16:creationId xmlns:a16="http://schemas.microsoft.com/office/drawing/2014/main" id="{03E06577-263F-A5C8-96F1-D0771AD5AA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8584" y="3328216"/>
            <a:ext cx="554966" cy="554966"/>
          </a:xfrm>
          <a:prstGeom prst="rect">
            <a:avLst/>
          </a:prstGeom>
        </p:spPr>
      </p:pic>
      <p:pic>
        <p:nvPicPr>
          <p:cNvPr id="26" name="Graphic 25" descr="Circles with arrows outline">
            <a:extLst>
              <a:ext uri="{FF2B5EF4-FFF2-40B4-BE49-F238E27FC236}">
                <a16:creationId xmlns:a16="http://schemas.microsoft.com/office/drawing/2014/main" id="{1D7B6F76-BE6C-F538-27F2-5CBB090EB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394" y="3231510"/>
            <a:ext cx="710242" cy="7102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external signal, reasoned step by step.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063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34540" y="2148840"/>
            <a:ext cx="640080" cy="640080"/>
          </a:xfrm>
          <a:prstGeom prst="ellipse">
            <a:avLst/>
          </a:prstGeom>
          <a:solidFill>
            <a:srgbClr val="2D3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96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32461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· Bureau of Labor Statistics · Federal Reserve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04488" y="260604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063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54980" y="2148840"/>
            <a:ext cx="640080" cy="640080"/>
          </a:xfrm>
          <a:prstGeom prst="ellipse">
            <a:avLst/>
          </a:prstGeom>
          <a:solidFill>
            <a:srgbClr val="2D3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401" y="23152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agent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26280" y="32461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what’s relevant, reasons step by step, shows its work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24928" y="260604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7863840" y="1920240"/>
            <a:ext cx="30632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075420" y="2148840"/>
            <a:ext cx="640080" cy="640080"/>
          </a:xfrm>
          <a:prstGeom prst="ellipse">
            <a:avLst/>
          </a:prstGeom>
          <a:solidFill>
            <a:srgbClr val="2D3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1841" y="23152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880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3-dimension output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46720" y="32461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shape · Sentiment · Talent moves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doors, one room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22960" y="46177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start their scenario with natural language, a pre-built card, or sliders and all three feed the exact same output view.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22960" y="5166360"/>
            <a:ext cx="3154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05840" y="5349240"/>
            <a:ext cx="502920" cy="502920"/>
          </a:xfrm>
          <a:prstGeom prst="ellipse">
            <a:avLst/>
          </a:prstGeom>
          <a:solidFill>
            <a:srgbClr val="F7F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1645920" y="5166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233672" y="5166360"/>
            <a:ext cx="3154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416552" y="5349240"/>
            <a:ext cx="502920" cy="502920"/>
          </a:xfrm>
          <a:prstGeom prst="ellipse">
            <a:avLst/>
          </a:prstGeom>
          <a:solidFill>
            <a:srgbClr val="F7F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5056632" y="5166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Pre-defined scenarios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7644384" y="5166360"/>
            <a:ext cx="3154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7827264" y="5349240"/>
            <a:ext cx="502920" cy="502920"/>
          </a:xfrm>
          <a:prstGeom prst="ellipse">
            <a:avLst/>
          </a:prstGeom>
          <a:solidFill>
            <a:srgbClr val="F7F5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8467344" y="5166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</a:t>
            </a:r>
            <a:endParaRPr lang="en-US" sz="1300" dirty="0"/>
          </a:p>
        </p:txBody>
      </p:sp>
      <p:pic>
        <p:nvPicPr>
          <p:cNvPr id="36" name="Graphic 35" descr="Chat bubble outline">
            <a:extLst>
              <a:ext uri="{FF2B5EF4-FFF2-40B4-BE49-F238E27FC236}">
                <a16:creationId xmlns:a16="http://schemas.microsoft.com/office/drawing/2014/main" id="{806EB4BD-EBD7-B629-FEB9-9860927E6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738" y="5407037"/>
            <a:ext cx="445123" cy="445123"/>
          </a:xfrm>
          <a:prstGeom prst="rect">
            <a:avLst/>
          </a:prstGeom>
        </p:spPr>
      </p:pic>
      <p:pic>
        <p:nvPicPr>
          <p:cNvPr id="38" name="Graphic 37" descr="Playbook outline">
            <a:extLst>
              <a:ext uri="{FF2B5EF4-FFF2-40B4-BE49-F238E27FC236}">
                <a16:creationId xmlns:a16="http://schemas.microsoft.com/office/drawing/2014/main" id="{70D922B0-802C-0A67-503E-85925E94B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4840" y="5372100"/>
            <a:ext cx="457200" cy="457200"/>
          </a:xfrm>
          <a:prstGeom prst="rect">
            <a:avLst/>
          </a:prstGeom>
        </p:spPr>
      </p:pic>
      <p:pic>
        <p:nvPicPr>
          <p:cNvPr id="42" name="Graphic 41" descr="Settings outline">
            <a:extLst>
              <a:ext uri="{FF2B5EF4-FFF2-40B4-BE49-F238E27FC236}">
                <a16:creationId xmlns:a16="http://schemas.microsoft.com/office/drawing/2014/main" id="{56E41911-25EA-1E42-6D23-7C8FC3291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5337" y="5387608"/>
            <a:ext cx="426183" cy="4261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LOOKS LIKE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prototype leaders can actually act 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plain-language scenario in and an explainable projection out. A solution delivered in a form that lands at every altitude of decision-making.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  <p:txBody>
          <a:bodyPr numCol="2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3456432"/>
            <a:ext cx="109728" cy="109728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Chiefs of Staff &amp; Executives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97280" y="3913632"/>
            <a:ext cx="109728" cy="109728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3749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540"/>
                </a:solidFill>
                <a:latin typeface="Arial" pitchFamily="34" charset="0"/>
                <a:cs typeface="Arial" pitchFamily="34" charset="-120"/>
              </a:rPr>
              <a:t>Operations leaders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97280" y="4370832"/>
            <a:ext cx="109728" cy="109728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Acquisition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97280" y="4828032"/>
            <a:ext cx="109728" cy="109728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and Internal Comms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2697480"/>
            <a:ext cx="5166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880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6520" y="3456432"/>
            <a:ext cx="109728" cy="109728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planning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3913632"/>
            <a:ext cx="109728" cy="109728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headcount &amp; resource planning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46520" y="4370832"/>
            <a:ext cx="109728" cy="109728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hoc support for internal events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46520" y="4828032"/>
            <a:ext cx="109728" cy="109728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2084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hoc response to external events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6172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countries · 13 currencies · many industry sectors: one connected view of the workforce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28DB0-91EA-29A2-4140-DF9A929D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D4007A-1ABE-AA31-89E0-251C954AF495}"/>
              </a:ext>
            </a:extLst>
          </p:cNvPr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LOOKS LIKE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038850-F2EF-780C-5D56-445FFA7A05F2}"/>
              </a:ext>
            </a:extLst>
          </p:cNvPr>
          <p:cNvSpPr/>
          <p:nvPr/>
        </p:nvSpPr>
        <p:spPr>
          <a:xfrm>
            <a:off x="424131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3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prototype leaders can actually act on.</a:t>
            </a:r>
            <a:endParaRPr lang="en-US" sz="3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FE96E36-F075-3CA1-6D9E-F2CCB5EEA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181" y="1783080"/>
            <a:ext cx="74295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8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D354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BLAME (IT’S ALWAYS HR)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8308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3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2514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0220" y="2834640"/>
            <a:ext cx="640080" cy="640080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7602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Lamar Foster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566160" y="2651760"/>
            <a:ext cx="2514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03420" y="2834640"/>
            <a:ext cx="640080" cy="640080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034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66160" y="3611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Erica Paglieri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2651760"/>
            <a:ext cx="2514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246620" y="2834640"/>
            <a:ext cx="640080" cy="640080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2466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09360" y="3611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Sadia Sleweon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052560" y="2651760"/>
            <a:ext cx="2514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989820" y="2834640"/>
            <a:ext cx="640080" cy="640080"/>
          </a:xfrm>
          <a:prstGeom prst="ellipse">
            <a:avLst/>
          </a:prstGeom>
          <a:solidFill>
            <a:srgbClr val="EBC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9898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52560" y="3611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3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Reese McGillie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22960" y="4617720"/>
            <a:ext cx="10515600" cy="0"/>
          </a:xfrm>
          <a:prstGeom prst="line">
            <a:avLst/>
          </a:prstGeom>
          <a:noFill/>
          <a:ln w="12700">
            <a:solidFill>
              <a:srgbClr val="DAD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429</Words>
  <Application>Microsoft Office PowerPoint</Application>
  <PresentationFormat>Widescreen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Reese McGillie</cp:lastModifiedBy>
  <cp:revision>3</cp:revision>
  <dcterms:created xsi:type="dcterms:W3CDTF">2026-08-14T20:10:39Z</dcterms:created>
  <dcterms:modified xsi:type="dcterms:W3CDTF">2026-08-14T21:43:12Z</dcterms:modified>
</cp:coreProperties>
</file>