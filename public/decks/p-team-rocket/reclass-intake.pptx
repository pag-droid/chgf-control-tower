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Reclass is what we call correcting a miscoded financial transaction. Today it starts as a free-text email to a shared inbox. Reclass Intake is that email as a form that knows the rules: it pulls the real transaction from Power BI, validates it against sixteen rules as you type, and emits the exact Working List file accounting already consumes. Built in a day, with four Claude Code agents running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careful not to overclaim here. The cost of a bad request isn't a keystroke, it's a round trip: the request arrives as prose, somebody interprets it against a rulebook that disagrees with itself, writes back, and the requester re-reads it, re-pulls the transaction and resubmits. Every one of those steps is a person. Second, the rules live with one senior manager who described herself as the alias, like the Wizard of Oz. Third, nobody can self-serve, so people learn the rules by being rejected. And the timeline at the bottom is not an estimate — it's the published cycle. Nothing surfaces the problem until the batch runs at month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pitch in one table. Left is today; right is the tool. The row I would point at is the second one — a cost center that structurally cannot receive charges is no longer something you can type, because it isn't selectable. And the last row: today, ‘when does this land’ is a follow-up email; here the form tells you at submission.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Paste a GL Business Key and the real transaction arrives from the Budget-to-Actuals model — twenty-three fields, no export step. Tick which of the four reclassable fields change. Pick new values from dropdowns built from live dimension data, ordered with your own division first. Sixteen rules run on every keystroke, each citing the document it came from. Submit, and the batch console consolidates the month into one workbook. Nothing is sent automatically — a human still hands it 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thing, this. 40005 looks like a cost center. It is an aggregation-only rollup node — no dollars are ever coded to it, so a reclass targeting it can never post. Today you can type that into an email and find out a month later. Here you cannot pick it. And note that we show it rather than hiding it: struck through, with the reason on hover, because a requester who went looking for it should learn why it isn't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landed after the first review, and both came from the process rather than from us. First, the form now says when the reclass lands — processed on the last business day of the month, visible downstream by the tenth business day of the next — and it warns you when you are within two business days of the cutoff. That is the concrete version of the timing story; it is the published cycle, not an estimate. Second, the process owner asked that a requester be able to proceed past a judgment call by taking responsibility for it. Four rules allow that, and the finding is downgraded with their name attached rather than hidden. Eight never allow it — including payroll, and including the arithmetic, because no tick box makes a missing transaction exist.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 was split into four tracks with exclusive file ownership, gated behind a fifteen-minute contract lock: shared types, fixtures and a stub API, committed before anything else started. That is what makes it parallelisable — every track's inputs are frozen and every track's output is independently verifiable. The frontend built against stubs that existed at minute zero; only one track touches the network, which is why it also owns offline mode. And the contract is not a convention in a spec, it is a hook that blocks the edit. Mid-sprint it blocked an agent that genuinely needed a fixture change, and that agent escalated to me instead of going around it through the shell.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machinery that built this ships with it. Four subagent definitions, each declaring its exclusive files, its forbidden paths and the command that proves it done — dispatching Sprint 1 was four Agent calls in a single message. A skill, slash add-rule, that scaffolds a new business rule end to end, so rule seventeen gets added next month by someone who isn't me. And a pre-commit gate that blocks secrets and live financial data. It caught a real one during the build. Then a reviewer found the scanner itself had a Windows encoding defect and was reading files as empty, so we fixed it and added a checker that asserts data invariants rather than file paths.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 I would most want a judge to read. We invented a story about the business — we had designed a multi-field reclass as one atomic row, it demoed well, and the process owner corrected it on sight. Accounting wants one row per change, each with its instruction in column X, which is the field they actually read and the one we had left blank. Second, a reviewer starting from a clean clone found the app unusable, because our docs pointed at a dot-env file that nothing loaded. Third, an independent review found the export stated the wrong amount on partial reclasses — six of the eight rows in our own demo file. All three are written down in the repo, including inside the rule's own citation.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pilots without anyone else changing anything: same Working List format, no new system of record, no coordination with accounting services. It runs offline from a fresh clone, so you can try it with no Power BI access at all. And every submission writes a structured labelled record — the four weakest response categories in the email-triage automation already running on that inbox are exactly what this form validates, so it is also a training-data generator. The bottom strip is what isn't built, stated rather than quietly omitted.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day, two sprints. Sixteen rules, each citing its source. Three hundred and eighty-nine tests. Four agents in parallel in Sprint 1, nine across the day. Zero cloud resources — the whole thing runs on localhost against an existing connector we vendored rather than rebuilt. And zero real production data in the repository, which isn't a promise: it is enforced by a hook and verified by tests. If you open one file, open rules.py; if you open one directory, open dot-claude.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13A44"/>
        </a:solidFill>
        <a:effectLst/>
      </p:bgPr>
    </p:bg>
    <p:spTree>
      <p:nvGrpSpPr>
        <p:cNvPr id="1" name=""/>
        <p:cNvGrpSpPr/>
        <p:nvPr/>
      </p:nvGrpSpPr>
      <p:grpSpPr/>
      <p:sp>
        <p:nvSpPr>
          <p:cNvPr id="2" name="Title 1"/>
          <p:cNvSpPr>
            <a:spLocks noGrp="1"/>
          </p:cNvSpPr>
          <p:nvPr>
            <p:ph type="title"/>
          </p:nvPr>
        </p:nvSpPr>
        <p:spPr>
          <a:xfrm>
            <a:off x="777240" y="1463040"/>
            <a:ext cx="10637215" cy="960120"/>
          </a:xfrm>
        </p:spPr>
        <p:txBody>
          <a:bodyPr wrap="square" anchor="t" lIns="0" rIns="0" tIns="0" bIns="0">
            <a:noAutofit/>
          </a:bodyPr>
          <a:lstStyle/>
          <a:p>
            <a:pPr algn="l">
              <a:lnSpc>
                <a:spcPts val="6500"/>
              </a:lnSpc>
            </a:pPr>
            <a:r>
              <a:rPr sz="5800" b="1" spc="-20">
                <a:solidFill>
                  <a:srgbClr val="F5F3ED"/>
                </a:solidFill>
                <a:latin typeface="Georgia"/>
              </a:rPr>
              <a:t>Reclass Intake</a:t>
            </a:r>
          </a:p>
        </p:txBody>
      </p:sp>
      <p:sp>
        <p:nvSpPr>
          <p:cNvPr id="3" name="Rectangle 2"/>
          <p:cNvSpPr/>
          <p:nvPr/>
        </p:nvSpPr>
        <p:spPr>
          <a:xfrm>
            <a:off x="777240" y="1188720"/>
            <a:ext cx="1737360" cy="146304"/>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 name="TextBox 3"/>
          <p:cNvSpPr txBox="1"/>
          <p:nvPr/>
        </p:nvSpPr>
        <p:spPr>
          <a:xfrm>
            <a:off x="777240" y="2697480"/>
            <a:ext cx="9052560" cy="1371600"/>
          </a:xfrm>
          <a:prstGeom prst="rect">
            <a:avLst/>
          </a:prstGeom>
          <a:noFill/>
        </p:spPr>
        <p:txBody>
          <a:bodyPr wrap="square" anchor="t" lIns="0" tIns="0" rIns="0" bIns="0">
            <a:noAutofit/>
          </a:bodyPr>
          <a:lstStyle/>
          <a:p>
            <a:pPr algn="l">
              <a:lnSpc>
                <a:spcPts val="2820"/>
              </a:lnSpc>
              <a:spcBef>
                <a:spcPts val="0"/>
              </a:spcBef>
              <a:spcAft>
                <a:spcPts val="0"/>
              </a:spcAft>
            </a:pPr>
            <a:r>
              <a:rPr sz="2200" b="0" i="0">
                <a:solidFill>
                  <a:srgbClr val="F5F3ED"/>
                </a:solidFill>
                <a:latin typeface="Georgia"/>
              </a:rPr>
              <a:t>A reclass request today is a free-text email that takes a month to fail. This is that email as a form that knows the rules.</a:t>
            </a:r>
          </a:p>
        </p:txBody>
      </p:sp>
      <p:sp>
        <p:nvSpPr>
          <p:cNvPr id="5" name="Rectangle 4"/>
          <p:cNvSpPr/>
          <p:nvPr/>
        </p:nvSpPr>
        <p:spPr>
          <a:xfrm>
            <a:off x="777240" y="4443984"/>
            <a:ext cx="3840480" cy="18288"/>
          </a:xfrm>
          <a:prstGeom prst="rect">
            <a:avLst/>
          </a:prstGeom>
          <a:solidFill>
            <a:srgbClr val="555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77240" y="4718304"/>
            <a:ext cx="6858000" cy="1005840"/>
          </a:xfrm>
          <a:prstGeom prst="rect">
            <a:avLst/>
          </a:prstGeom>
          <a:noFill/>
        </p:spPr>
        <p:txBody>
          <a:bodyPr wrap="square" anchor="t" lIns="0" tIns="0" rIns="0" bIns="0">
            <a:noAutofit/>
          </a:bodyPr>
          <a:lstStyle/>
          <a:p>
            <a:pPr algn="l">
              <a:lnSpc>
                <a:spcPts val="1800"/>
              </a:lnSpc>
              <a:spcBef>
                <a:spcPts val="0"/>
              </a:spcBef>
              <a:spcAft>
                <a:spcPts val="500"/>
              </a:spcAft>
            </a:pPr>
            <a:r>
              <a:rPr sz="1500" b="1" i="0">
                <a:solidFill>
                  <a:srgbClr val="F5F3ED"/>
                </a:solidFill>
                <a:latin typeface="Segoe UI"/>
              </a:rPr>
              <a:t>Casey Dobrowolski  ·  Central FP&amp;A / EBM</a:t>
            </a:r>
          </a:p>
          <a:p>
            <a:pPr algn="l">
              <a:lnSpc>
                <a:spcPts val="1500"/>
              </a:lnSpc>
              <a:spcBef>
                <a:spcPts val="0"/>
              </a:spcBef>
              <a:spcAft>
                <a:spcPts val="0"/>
              </a:spcAft>
            </a:pPr>
            <a:r>
              <a:rPr sz="1250" b="0" i="0">
                <a:solidFill>
                  <a:srgbClr val="A8B0BA"/>
                </a:solidFill>
                <a:latin typeface="Segoe UI"/>
              </a:rPr>
              <a:t>Team reclass-intake  ·  Gates Foundation × Anthropic  ·  14 August 2026</a:t>
            </a:r>
          </a:p>
        </p:txBody>
      </p:sp>
      <p:sp>
        <p:nvSpPr>
          <p:cNvPr id="7" name="TextBox 6"/>
          <p:cNvSpPr txBox="1"/>
          <p:nvPr/>
        </p:nvSpPr>
        <p:spPr>
          <a:xfrm>
            <a:off x="777240" y="6053328"/>
            <a:ext cx="10637215" cy="310896"/>
          </a:xfrm>
          <a:prstGeom prst="rect">
            <a:avLst/>
          </a:prstGeom>
          <a:noFill/>
        </p:spPr>
        <p:txBody>
          <a:bodyPr wrap="square" anchor="t" lIns="0" tIns="0" rIns="0" bIns="0">
            <a:noAutofit/>
          </a:bodyPr>
          <a:lstStyle/>
          <a:p>
            <a:pPr algn="l">
              <a:lnSpc>
                <a:spcPts val="1380"/>
              </a:lnSpc>
              <a:spcBef>
                <a:spcPts val="0"/>
              </a:spcBef>
              <a:spcAft>
                <a:spcPts val="0"/>
              </a:spcAft>
            </a:pPr>
            <a:r>
              <a:rPr sz="1150" b="0" i="0" spc="40">
                <a:solidFill>
                  <a:srgbClr val="A8B0BA"/>
                </a:solidFill>
                <a:latin typeface="Segoe UI"/>
              </a:rPr>
              <a:t>16 business rules  ·  389 tests  ·  4 agents in parallel  ·  0 cloud resources  ·  runs on localhost</a:t>
            </a:r>
          </a:p>
        </p:txBody>
      </p:sp>
      <p:sp>
        <p:nvSpPr>
          <p:cNvPr id="8" name="TextBox 7"/>
          <p:cNvSpPr txBox="1"/>
          <p:nvPr/>
        </p:nvSpPr>
        <p:spPr>
          <a:xfrm>
            <a:off x="777240" y="566928"/>
            <a:ext cx="10637215" cy="274320"/>
          </a:xfrm>
          <a:prstGeom prst="rect">
            <a:avLst/>
          </a:prstGeom>
          <a:noFill/>
        </p:spPr>
        <p:txBody>
          <a:bodyPr wrap="square" anchor="t" lIns="0" tIns="0" rIns="0" bIns="0">
            <a:noAutofit/>
          </a:bodyPr>
          <a:lstStyle/>
          <a:p>
            <a:pPr algn="l">
              <a:lnSpc>
                <a:spcPts val="1260"/>
              </a:lnSpc>
              <a:spcBef>
                <a:spcPts val="0"/>
              </a:spcBef>
              <a:spcAft>
                <a:spcPts val="0"/>
              </a:spcAft>
            </a:pPr>
            <a:r>
              <a:rPr sz="1050" b="1" i="0" spc="160">
                <a:solidFill>
                  <a:srgbClr val="A8B0BA"/>
                </a:solidFill>
                <a:latin typeface="Segoe UI"/>
              </a:rPr>
              <a:t>CLAUDE CODE HACKATHON  ·  GATES FOUNDATION × ANTHROPIC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itle 1"/>
          <p:cNvSpPr>
            <a:spLocks noGrp="1"/>
          </p:cNvSpPr>
          <p:nvPr>
            <p:ph type="title"/>
          </p:nvPr>
        </p:nvSpPr>
        <p:spPr>
          <a:xfrm>
            <a:off x="777240" y="786384"/>
            <a:ext cx="10637215" cy="713232"/>
          </a:xfrm>
        </p:spPr>
        <p:txBody>
          <a:bodyPr wrap="square" anchor="t" lIns="0" rIns="0" tIns="0" bIns="0">
            <a:noAutofit/>
          </a:bodyPr>
          <a:lstStyle/>
          <a:p>
            <a:pPr algn="l">
              <a:lnSpc>
                <a:spcPts val="3360"/>
              </a:lnSpc>
            </a:pPr>
            <a:r>
              <a:rPr sz="3000" b="1" spc="-20">
                <a:solidFill>
                  <a:srgbClr val="313A44"/>
                </a:solidFill>
                <a:latin typeface="Georgia"/>
              </a:rPr>
              <a:t>An error costs a round trip, not a keystroke.</a:t>
            </a:r>
          </a:p>
        </p:txBody>
      </p:sp>
      <p:sp>
        <p:nvSpPr>
          <p:cNvPr id="3" name="TextBox 2"/>
          <p:cNvSpPr txBox="1"/>
          <p:nvPr/>
        </p:nvSpPr>
        <p:spPr>
          <a:xfrm>
            <a:off x="777240" y="475488"/>
            <a:ext cx="10637215" cy="256032"/>
          </a:xfrm>
          <a:prstGeom prst="rect">
            <a:avLst/>
          </a:prstGeom>
          <a:noFill/>
        </p:spPr>
        <p:txBody>
          <a:bodyPr wrap="square" anchor="t" lIns="0" tIns="0" rIns="0" bIns="0">
            <a:noAutofit/>
          </a:bodyPr>
          <a:lstStyle/>
          <a:p>
            <a:pPr algn="l">
              <a:lnSpc>
                <a:spcPts val="1260"/>
              </a:lnSpc>
              <a:spcBef>
                <a:spcPts val="0"/>
              </a:spcBef>
              <a:spcAft>
                <a:spcPts val="0"/>
              </a:spcAft>
            </a:pPr>
            <a:r>
              <a:rPr sz="1050" b="1" i="0" spc="140">
                <a:solidFill>
                  <a:srgbClr val="7A8290"/>
                </a:solidFill>
                <a:latin typeface="Segoe UI"/>
              </a:rPr>
              <a:t>THE PROBLEM</a:t>
            </a:r>
          </a:p>
        </p:txBody>
      </p:sp>
      <p:sp>
        <p:nvSpPr>
          <p:cNvPr id="4" name="Rectangle 3"/>
          <p:cNvSpPr/>
          <p:nvPr/>
        </p:nvSpPr>
        <p:spPr>
          <a:xfrm>
            <a:off x="777240" y="1591056"/>
            <a:ext cx="1051560"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ectangle 4"/>
          <p:cNvSpPr/>
          <p:nvPr/>
        </p:nvSpPr>
        <p:spPr>
          <a:xfrm>
            <a:off x="777240" y="1975104"/>
            <a:ext cx="3301898" cy="2596896"/>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ectangle 5"/>
          <p:cNvSpPr/>
          <p:nvPr/>
        </p:nvSpPr>
        <p:spPr>
          <a:xfrm>
            <a:off x="1069848" y="2212848"/>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1069848" y="2505456"/>
            <a:ext cx="2716682" cy="658368"/>
          </a:xfrm>
          <a:prstGeom prst="rect">
            <a:avLst/>
          </a:prstGeom>
          <a:noFill/>
        </p:spPr>
        <p:txBody>
          <a:bodyPr wrap="square" anchor="t" lIns="0" tIns="0" rIns="0" bIns="0">
            <a:noAutofit/>
          </a:bodyPr>
          <a:lstStyle/>
          <a:p>
            <a:pPr algn="l">
              <a:lnSpc>
                <a:spcPts val="1939"/>
              </a:lnSpc>
              <a:spcBef>
                <a:spcPts val="0"/>
              </a:spcBef>
              <a:spcAft>
                <a:spcPts val="0"/>
              </a:spcAft>
            </a:pPr>
            <a:r>
              <a:rPr sz="1700" b="1" i="0">
                <a:solidFill>
                  <a:srgbClr val="313A44"/>
                </a:solidFill>
                <a:latin typeface="Georgia"/>
              </a:rPr>
              <a:t>Every error is a round trip</a:t>
            </a:r>
          </a:p>
        </p:txBody>
      </p:sp>
      <p:sp>
        <p:nvSpPr>
          <p:cNvPr id="8" name="TextBox 7"/>
          <p:cNvSpPr txBox="1"/>
          <p:nvPr/>
        </p:nvSpPr>
        <p:spPr>
          <a:xfrm>
            <a:off x="1069848" y="3236976"/>
            <a:ext cx="2716682" cy="1243584"/>
          </a:xfrm>
          <a:prstGeom prst="rect">
            <a:avLst/>
          </a:prstGeom>
          <a:noFill/>
        </p:spPr>
        <p:txBody>
          <a:bodyPr wrap="square" anchor="t" lIns="0" tIns="0" rIns="0" bIns="0">
            <a:noAutofit/>
          </a:bodyPr>
          <a:lstStyle/>
          <a:p>
            <a:pPr algn="l">
              <a:lnSpc>
                <a:spcPts val="1510"/>
              </a:lnSpc>
              <a:spcBef>
                <a:spcPts val="0"/>
              </a:spcBef>
              <a:spcAft>
                <a:spcPts val="0"/>
              </a:spcAft>
            </a:pPr>
            <a:r>
              <a:rPr sz="1200" b="0" i="0">
                <a:solidFill>
                  <a:srgbClr val="4A535E"/>
                </a:solidFill>
                <a:latin typeface="Segoe UI"/>
              </a:rPr>
              <a:t>The request arrives as prose. Someone interprets it against a rulebook that disagrees with itself and writes back. The requester re-reads it, re-pulls the transaction and resubmits. Every step there is a person.</a:t>
            </a:r>
          </a:p>
        </p:txBody>
      </p:sp>
      <p:sp>
        <p:nvSpPr>
          <p:cNvPr id="9" name="Rectangle 8"/>
          <p:cNvSpPr/>
          <p:nvPr/>
        </p:nvSpPr>
        <p:spPr>
          <a:xfrm>
            <a:off x="4444898" y="1975104"/>
            <a:ext cx="3301898" cy="2596896"/>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ectangle 9"/>
          <p:cNvSpPr/>
          <p:nvPr/>
        </p:nvSpPr>
        <p:spPr>
          <a:xfrm>
            <a:off x="4737506" y="2212848"/>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4737506" y="2505456"/>
            <a:ext cx="2716682" cy="658368"/>
          </a:xfrm>
          <a:prstGeom prst="rect">
            <a:avLst/>
          </a:prstGeom>
          <a:noFill/>
        </p:spPr>
        <p:txBody>
          <a:bodyPr wrap="square" anchor="t" lIns="0" tIns="0" rIns="0" bIns="0">
            <a:noAutofit/>
          </a:bodyPr>
          <a:lstStyle/>
          <a:p>
            <a:pPr algn="l">
              <a:lnSpc>
                <a:spcPts val="1939"/>
              </a:lnSpc>
              <a:spcBef>
                <a:spcPts val="0"/>
              </a:spcBef>
              <a:spcAft>
                <a:spcPts val="0"/>
              </a:spcAft>
            </a:pPr>
            <a:r>
              <a:rPr sz="1700" b="1" i="0">
                <a:solidFill>
                  <a:srgbClr val="313A44"/>
                </a:solidFill>
                <a:latin typeface="Georgia"/>
              </a:rPr>
              <a:t>The rules live in one head</a:t>
            </a:r>
          </a:p>
        </p:txBody>
      </p:sp>
      <p:sp>
        <p:nvSpPr>
          <p:cNvPr id="12" name="TextBox 11"/>
          <p:cNvSpPr txBox="1"/>
          <p:nvPr/>
        </p:nvSpPr>
        <p:spPr>
          <a:xfrm>
            <a:off x="4737506" y="3236976"/>
            <a:ext cx="2716682" cy="1243584"/>
          </a:xfrm>
          <a:prstGeom prst="rect">
            <a:avLst/>
          </a:prstGeom>
          <a:noFill/>
        </p:spPr>
        <p:txBody>
          <a:bodyPr wrap="square" anchor="t" lIns="0" tIns="0" rIns="0" bIns="0">
            <a:noAutofit/>
          </a:bodyPr>
          <a:lstStyle/>
          <a:p>
            <a:pPr algn="l">
              <a:lnSpc>
                <a:spcPts val="1510"/>
              </a:lnSpc>
              <a:spcBef>
                <a:spcPts val="0"/>
              </a:spcBef>
              <a:spcAft>
                <a:spcPts val="0"/>
              </a:spcAft>
            </a:pPr>
            <a:r>
              <a:rPr sz="1200" b="0" i="0">
                <a:solidFill>
                  <a:srgbClr val="4A535E"/>
                </a:solidFill>
                <a:latin typeface="Segoe UI"/>
              </a:rPr>
              <a:t>Every request funnelled to one senior manager — “the alias, like the Wizard of Oz.” Four written sources that don't agree: even whether the threshold is “greater than” or “greater than or equal” is contradictory.</a:t>
            </a:r>
          </a:p>
        </p:txBody>
      </p:sp>
      <p:sp>
        <p:nvSpPr>
          <p:cNvPr id="13" name="Rectangle 12"/>
          <p:cNvSpPr/>
          <p:nvPr/>
        </p:nvSpPr>
        <p:spPr>
          <a:xfrm>
            <a:off x="8112556" y="1975104"/>
            <a:ext cx="3301898" cy="2596896"/>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ectangle 13"/>
          <p:cNvSpPr/>
          <p:nvPr/>
        </p:nvSpPr>
        <p:spPr>
          <a:xfrm>
            <a:off x="8405164" y="2212848"/>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405164" y="2505456"/>
            <a:ext cx="2716682" cy="658368"/>
          </a:xfrm>
          <a:prstGeom prst="rect">
            <a:avLst/>
          </a:prstGeom>
          <a:noFill/>
        </p:spPr>
        <p:txBody>
          <a:bodyPr wrap="square" anchor="t" lIns="0" tIns="0" rIns="0" bIns="0">
            <a:noAutofit/>
          </a:bodyPr>
          <a:lstStyle/>
          <a:p>
            <a:pPr algn="l">
              <a:lnSpc>
                <a:spcPts val="1939"/>
              </a:lnSpc>
              <a:spcBef>
                <a:spcPts val="0"/>
              </a:spcBef>
              <a:spcAft>
                <a:spcPts val="0"/>
              </a:spcAft>
            </a:pPr>
            <a:r>
              <a:rPr sz="1700" b="1" i="0">
                <a:solidFill>
                  <a:srgbClr val="313A44"/>
                </a:solidFill>
                <a:latin typeface="Georgia"/>
              </a:rPr>
              <a:t>Requesters can't self-serve</a:t>
            </a:r>
          </a:p>
        </p:txBody>
      </p:sp>
      <p:sp>
        <p:nvSpPr>
          <p:cNvPr id="16" name="TextBox 15"/>
          <p:cNvSpPr txBox="1"/>
          <p:nvPr/>
        </p:nvSpPr>
        <p:spPr>
          <a:xfrm>
            <a:off x="8405164" y="3236976"/>
            <a:ext cx="2716682" cy="1243584"/>
          </a:xfrm>
          <a:prstGeom prst="rect">
            <a:avLst/>
          </a:prstGeom>
          <a:noFill/>
        </p:spPr>
        <p:txBody>
          <a:bodyPr wrap="square" anchor="t" lIns="0" tIns="0" rIns="0" bIns="0">
            <a:noAutofit/>
          </a:bodyPr>
          <a:lstStyle/>
          <a:p>
            <a:pPr algn="l">
              <a:lnSpc>
                <a:spcPts val="1510"/>
              </a:lnSpc>
              <a:spcBef>
                <a:spcPts val="0"/>
              </a:spcBef>
              <a:spcAft>
                <a:spcPts val="0"/>
              </a:spcAft>
            </a:pPr>
            <a:r>
              <a:rPr sz="1200" b="0" i="0">
                <a:solidFill>
                  <a:srgbClr val="4A535E"/>
                </a:solidFill>
                <a:latin typeface="Segoe UI"/>
              </a:rPr>
              <a:t>The rules aren't discoverable at the moment of submission, so people learn them by being rejected. The foundation's own improvement document asked for hover tips. Nobody built it.</a:t>
            </a:r>
          </a:p>
        </p:txBody>
      </p:sp>
      <p:sp>
        <p:nvSpPr>
          <p:cNvPr id="17" name="TextBox 16"/>
          <p:cNvSpPr txBox="1"/>
          <p:nvPr/>
        </p:nvSpPr>
        <p:spPr>
          <a:xfrm>
            <a:off x="777240" y="4754880"/>
            <a:ext cx="10637215" cy="274320"/>
          </a:xfrm>
          <a:prstGeom prst="rect">
            <a:avLst/>
          </a:prstGeom>
          <a:noFill/>
        </p:spPr>
        <p:txBody>
          <a:bodyPr wrap="square" anchor="t" lIns="0" tIns="0" rIns="0" bIns="0">
            <a:noAutofit/>
          </a:bodyPr>
          <a:lstStyle/>
          <a:p>
            <a:pPr algn="l">
              <a:lnSpc>
                <a:spcPts val="1200"/>
              </a:lnSpc>
              <a:spcBef>
                <a:spcPts val="0"/>
              </a:spcBef>
              <a:spcAft>
                <a:spcPts val="0"/>
              </a:spcAft>
            </a:pPr>
            <a:r>
              <a:rPr sz="1000" b="1" i="0" spc="140">
                <a:solidFill>
                  <a:srgbClr val="7A8290"/>
                </a:solidFill>
                <a:latin typeface="Segoe UI"/>
              </a:rPr>
              <a:t>THE PROCESSING CYCLE — FROM THE GUIDANCE, NOT AN ESTIMATE</a:t>
            </a:r>
          </a:p>
        </p:txBody>
      </p:sp>
      <p:sp>
        <p:nvSpPr>
          <p:cNvPr id="18" name="Rectangle 17"/>
          <p:cNvSpPr/>
          <p:nvPr/>
        </p:nvSpPr>
        <p:spPr>
          <a:xfrm>
            <a:off x="777240" y="5193792"/>
            <a:ext cx="10637215" cy="27432"/>
          </a:xfrm>
          <a:prstGeom prst="rect">
            <a:avLst/>
          </a:prstGeom>
          <a:solidFill>
            <a:srgbClr val="E2E0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ectangle 18"/>
          <p:cNvSpPr/>
          <p:nvPr/>
        </p:nvSpPr>
        <p:spPr>
          <a:xfrm>
            <a:off x="777240" y="5120640"/>
            <a:ext cx="173736" cy="173736"/>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777240" y="5413248"/>
            <a:ext cx="3179978" cy="274320"/>
          </a:xfrm>
          <a:prstGeom prst="rect">
            <a:avLst/>
          </a:prstGeom>
          <a:noFill/>
        </p:spPr>
        <p:txBody>
          <a:bodyPr wrap="square" anchor="t" lIns="0" tIns="0" rIns="0" bIns="0">
            <a:noAutofit/>
          </a:bodyPr>
          <a:lstStyle/>
          <a:p>
            <a:pPr algn="l">
              <a:lnSpc>
                <a:spcPts val="1620"/>
              </a:lnSpc>
              <a:spcBef>
                <a:spcPts val="0"/>
              </a:spcBef>
              <a:spcAft>
                <a:spcPts val="0"/>
              </a:spcAft>
            </a:pPr>
            <a:r>
              <a:rPr sz="1350" b="1" i="0">
                <a:solidFill>
                  <a:srgbClr val="313A44"/>
                </a:solidFill>
                <a:latin typeface="Georgia"/>
              </a:rPr>
              <a:t>You submit</a:t>
            </a:r>
          </a:p>
        </p:txBody>
      </p:sp>
      <p:sp>
        <p:nvSpPr>
          <p:cNvPr id="21" name="TextBox 20"/>
          <p:cNvSpPr txBox="1"/>
          <p:nvPr/>
        </p:nvSpPr>
        <p:spPr>
          <a:xfrm>
            <a:off x="777240" y="5687568"/>
            <a:ext cx="3179978" cy="256032"/>
          </a:xfrm>
          <a:prstGeom prst="rect">
            <a:avLst/>
          </a:prstGeom>
          <a:noFill/>
        </p:spPr>
        <p:txBody>
          <a:bodyPr wrap="square" anchor="t" lIns="0" tIns="0" rIns="0" bIns="0">
            <a:noAutofit/>
          </a:bodyPr>
          <a:lstStyle/>
          <a:p>
            <a:pPr algn="l">
              <a:lnSpc>
                <a:spcPts val="1380"/>
              </a:lnSpc>
              <a:spcBef>
                <a:spcPts val="0"/>
              </a:spcBef>
              <a:spcAft>
                <a:spcPts val="0"/>
              </a:spcAft>
            </a:pPr>
            <a:r>
              <a:rPr sz="1150" b="0" i="0">
                <a:solidFill>
                  <a:srgbClr val="7A8290"/>
                </a:solidFill>
                <a:latin typeface="Segoe UI"/>
              </a:rPr>
              <a:t>Any weekday. Nothing validates it.</a:t>
            </a:r>
          </a:p>
        </p:txBody>
      </p:sp>
      <p:sp>
        <p:nvSpPr>
          <p:cNvPr id="22" name="Rectangle 21"/>
          <p:cNvSpPr/>
          <p:nvPr/>
        </p:nvSpPr>
        <p:spPr>
          <a:xfrm>
            <a:off x="4322978" y="5120640"/>
            <a:ext cx="173736" cy="173736"/>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4322978" y="5413248"/>
            <a:ext cx="3179978" cy="274320"/>
          </a:xfrm>
          <a:prstGeom prst="rect">
            <a:avLst/>
          </a:prstGeom>
          <a:noFill/>
        </p:spPr>
        <p:txBody>
          <a:bodyPr wrap="square" anchor="t" lIns="0" tIns="0" rIns="0" bIns="0">
            <a:noAutofit/>
          </a:bodyPr>
          <a:lstStyle/>
          <a:p>
            <a:pPr algn="l">
              <a:lnSpc>
                <a:spcPts val="1620"/>
              </a:lnSpc>
              <a:spcBef>
                <a:spcPts val="0"/>
              </a:spcBef>
              <a:spcAft>
                <a:spcPts val="0"/>
              </a:spcAft>
            </a:pPr>
            <a:r>
              <a:rPr sz="1350" b="1" i="0">
                <a:solidFill>
                  <a:srgbClr val="313A44"/>
                </a:solidFill>
                <a:latin typeface="Georgia"/>
              </a:rPr>
              <a:t>Processed</a:t>
            </a:r>
          </a:p>
        </p:txBody>
      </p:sp>
      <p:sp>
        <p:nvSpPr>
          <p:cNvPr id="24" name="TextBox 23"/>
          <p:cNvSpPr txBox="1"/>
          <p:nvPr/>
        </p:nvSpPr>
        <p:spPr>
          <a:xfrm>
            <a:off x="4322978" y="5687568"/>
            <a:ext cx="3179978" cy="256032"/>
          </a:xfrm>
          <a:prstGeom prst="rect">
            <a:avLst/>
          </a:prstGeom>
          <a:noFill/>
        </p:spPr>
        <p:txBody>
          <a:bodyPr wrap="square" anchor="t" lIns="0" tIns="0" rIns="0" bIns="0">
            <a:noAutofit/>
          </a:bodyPr>
          <a:lstStyle/>
          <a:p>
            <a:pPr algn="l">
              <a:lnSpc>
                <a:spcPts val="1380"/>
              </a:lnSpc>
              <a:spcBef>
                <a:spcPts val="0"/>
              </a:spcBef>
              <a:spcAft>
                <a:spcPts val="0"/>
              </a:spcAft>
            </a:pPr>
            <a:r>
              <a:rPr sz="1150" b="0" i="0">
                <a:solidFill>
                  <a:srgbClr val="7A8290"/>
                </a:solidFill>
                <a:latin typeface="Segoe UI"/>
              </a:rPr>
              <a:t>Last business day of the month.</a:t>
            </a:r>
          </a:p>
        </p:txBody>
      </p:sp>
      <p:sp>
        <p:nvSpPr>
          <p:cNvPr id="25" name="Rectangle 24"/>
          <p:cNvSpPr/>
          <p:nvPr/>
        </p:nvSpPr>
        <p:spPr>
          <a:xfrm>
            <a:off x="7868716" y="5120640"/>
            <a:ext cx="173736" cy="173736"/>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7868716" y="5413248"/>
            <a:ext cx="3179978" cy="274320"/>
          </a:xfrm>
          <a:prstGeom prst="rect">
            <a:avLst/>
          </a:prstGeom>
          <a:noFill/>
        </p:spPr>
        <p:txBody>
          <a:bodyPr wrap="square" anchor="t" lIns="0" tIns="0" rIns="0" bIns="0">
            <a:noAutofit/>
          </a:bodyPr>
          <a:lstStyle/>
          <a:p>
            <a:pPr algn="l">
              <a:lnSpc>
                <a:spcPts val="1620"/>
              </a:lnSpc>
              <a:spcBef>
                <a:spcPts val="0"/>
              </a:spcBef>
              <a:spcAft>
                <a:spcPts val="0"/>
              </a:spcAft>
            </a:pPr>
            <a:r>
              <a:rPr sz="1350" b="1" i="0">
                <a:solidFill>
                  <a:srgbClr val="313A44"/>
                </a:solidFill>
                <a:latin typeface="Georgia"/>
              </a:rPr>
              <a:t>Visible downstream</a:t>
            </a:r>
          </a:p>
        </p:txBody>
      </p:sp>
      <p:sp>
        <p:nvSpPr>
          <p:cNvPr id="27" name="TextBox 26"/>
          <p:cNvSpPr txBox="1"/>
          <p:nvPr/>
        </p:nvSpPr>
        <p:spPr>
          <a:xfrm>
            <a:off x="7868716" y="5687568"/>
            <a:ext cx="3179978" cy="256032"/>
          </a:xfrm>
          <a:prstGeom prst="rect">
            <a:avLst/>
          </a:prstGeom>
          <a:noFill/>
        </p:spPr>
        <p:txBody>
          <a:bodyPr wrap="square" anchor="t" lIns="0" tIns="0" rIns="0" bIns="0">
            <a:noAutofit/>
          </a:bodyPr>
          <a:lstStyle/>
          <a:p>
            <a:pPr algn="l">
              <a:lnSpc>
                <a:spcPts val="1380"/>
              </a:lnSpc>
              <a:spcBef>
                <a:spcPts val="0"/>
              </a:spcBef>
              <a:spcAft>
                <a:spcPts val="0"/>
              </a:spcAft>
            </a:pPr>
            <a:r>
              <a:rPr sz="1150" b="0" i="0">
                <a:solidFill>
                  <a:srgbClr val="7A8290"/>
                </a:solidFill>
                <a:latin typeface="Segoe UI"/>
              </a:rPr>
              <a:t>10th business day of the next month.</a:t>
            </a:r>
          </a:p>
        </p:txBody>
      </p:sp>
      <p:sp>
        <p:nvSpPr>
          <p:cNvPr id="28" name="TextBox 27"/>
          <p:cNvSpPr txBox="1"/>
          <p:nvPr/>
        </p:nvSpPr>
        <p:spPr>
          <a:xfrm>
            <a:off x="777240" y="6035040"/>
            <a:ext cx="10637215" cy="310896"/>
          </a:xfrm>
          <a:prstGeom prst="rect">
            <a:avLst/>
          </a:prstGeom>
          <a:noFill/>
        </p:spPr>
        <p:txBody>
          <a:bodyPr wrap="square" anchor="t" lIns="0" tIns="0" rIns="0" bIns="0">
            <a:noAutofit/>
          </a:bodyPr>
          <a:lstStyle/>
          <a:p>
            <a:pPr algn="l">
              <a:lnSpc>
                <a:spcPts val="1560"/>
              </a:lnSpc>
              <a:spcBef>
                <a:spcPts val="0"/>
              </a:spcBef>
              <a:spcAft>
                <a:spcPts val="0"/>
              </a:spcAft>
            </a:pPr>
            <a:r>
              <a:rPr sz="1300" b="0" i="1">
                <a:solidFill>
                  <a:srgbClr val="313A44"/>
                </a:solidFill>
                <a:latin typeface="Georgia"/>
              </a:rPr>
              <a:t>A malformed request isn't caught until the batch — and the correction goes into the next cycle.</a:t>
            </a:r>
          </a:p>
        </p:txBody>
      </p:sp>
      <p:sp>
        <p:nvSpPr>
          <p:cNvPr id="29" name="TextBox 28"/>
          <p:cNvSpPr txBox="1"/>
          <p:nvPr/>
        </p:nvSpPr>
        <p:spPr>
          <a:xfrm>
            <a:off x="777240" y="6382512"/>
            <a:ext cx="10637215" cy="274320"/>
          </a:xfrm>
          <a:prstGeom prst="rect">
            <a:avLst/>
          </a:prstGeom>
          <a:noFill/>
        </p:spPr>
        <p:txBody>
          <a:bodyPr wrap="square" anchor="t" lIns="0" tIns="0" rIns="0" bIns="0">
            <a:noAutofit/>
          </a:bodyPr>
          <a:lstStyle/>
          <a:p>
            <a:pPr algn="l">
              <a:lnSpc>
                <a:spcPts val="1080"/>
              </a:lnSpc>
              <a:spcBef>
                <a:spcPts val="0"/>
              </a:spcBef>
              <a:spcAft>
                <a:spcPts val="0"/>
              </a:spcAft>
            </a:pPr>
            <a:r>
              <a:rPr sz="900" b="0" i="0" spc="60">
                <a:solidFill>
                  <a:srgbClr val="7A8290"/>
                </a:solidFill>
                <a:latin typeface="Segoe UI"/>
              </a:rPr>
              <a:t>Reclass Intake  ·  Casey Dobrowolski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itle 1"/>
          <p:cNvSpPr>
            <a:spLocks noGrp="1"/>
          </p:cNvSpPr>
          <p:nvPr>
            <p:ph type="title"/>
          </p:nvPr>
        </p:nvSpPr>
        <p:spPr>
          <a:xfrm>
            <a:off x="777240" y="786384"/>
            <a:ext cx="10637215" cy="713232"/>
          </a:xfrm>
        </p:spPr>
        <p:txBody>
          <a:bodyPr wrap="square" anchor="t" lIns="0" rIns="0" tIns="0" bIns="0">
            <a:noAutofit/>
          </a:bodyPr>
          <a:lstStyle/>
          <a:p>
            <a:pPr algn="l">
              <a:lnSpc>
                <a:spcPts val="3360"/>
              </a:lnSpc>
            </a:pPr>
            <a:r>
              <a:rPr sz="3000" b="1" spc="-20">
                <a:solidFill>
                  <a:srgbClr val="313A44"/>
                </a:solidFill>
                <a:latin typeface="Georgia"/>
              </a:rPr>
              <a:t>The email becomes a structured request.</a:t>
            </a:r>
          </a:p>
        </p:txBody>
      </p:sp>
      <p:sp>
        <p:nvSpPr>
          <p:cNvPr id="3" name="TextBox 2"/>
          <p:cNvSpPr txBox="1"/>
          <p:nvPr/>
        </p:nvSpPr>
        <p:spPr>
          <a:xfrm>
            <a:off x="777240" y="475488"/>
            <a:ext cx="10637215" cy="256032"/>
          </a:xfrm>
          <a:prstGeom prst="rect">
            <a:avLst/>
          </a:prstGeom>
          <a:noFill/>
        </p:spPr>
        <p:txBody>
          <a:bodyPr wrap="square" anchor="t" lIns="0" tIns="0" rIns="0" bIns="0">
            <a:noAutofit/>
          </a:bodyPr>
          <a:lstStyle/>
          <a:p>
            <a:pPr algn="l">
              <a:lnSpc>
                <a:spcPts val="1260"/>
              </a:lnSpc>
              <a:spcBef>
                <a:spcPts val="0"/>
              </a:spcBef>
              <a:spcAft>
                <a:spcPts val="0"/>
              </a:spcAft>
            </a:pPr>
            <a:r>
              <a:rPr sz="1050" b="1" i="0" spc="140">
                <a:solidFill>
                  <a:srgbClr val="7A8290"/>
                </a:solidFill>
                <a:latin typeface="Segoe UI"/>
              </a:rPr>
              <a:t>WHAT CHANGES</a:t>
            </a:r>
          </a:p>
        </p:txBody>
      </p:sp>
      <p:sp>
        <p:nvSpPr>
          <p:cNvPr id="4" name="Rectangle 3"/>
          <p:cNvSpPr/>
          <p:nvPr/>
        </p:nvSpPr>
        <p:spPr>
          <a:xfrm>
            <a:off x="777240" y="1591056"/>
            <a:ext cx="1051560"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5" name="Table 4"/>
          <p:cNvGraphicFramePr>
            <a:graphicFrameLocks noGrp="1"/>
          </p:cNvGraphicFramePr>
          <p:nvPr/>
        </p:nvGraphicFramePr>
        <p:xfrm>
          <a:off x="777240" y="1975104"/>
          <a:ext cx="10637215" cy="3749040"/>
        </p:xfrm>
        <a:graphic>
          <a:graphicData uri="http://schemas.openxmlformats.org/drawingml/2006/table">
            <a:tbl>
              <a:tblPr firstRow="0" bandRow="0" firstCol="0" lastRow="0" lastCol="0" bandCol="0">
                <a:tableStyleId>{2D5ABB26-0587-4C30-8999-92F81FD0307C}</a:tableStyleId>
              </a:tblPr>
              <a:tblGrid>
                <a:gridCol w="4956048"/>
                <a:gridCol w="5681167"/>
              </a:tblGrid>
              <a:tr h="420624">
                <a:tc>
                  <a:txBody>
                    <a:bodyPr wrap="square"/>
                    <a:lstStyle/>
                    <a:p>
                      <a:pPr algn="l">
                        <a:lnSpc>
                          <a:spcPts val="1220"/>
                        </a:lnSpc>
                        <a:spcBef>
                          <a:spcPts val="0"/>
                        </a:spcBef>
                        <a:spcAft>
                          <a:spcPts val="0"/>
                        </a:spcAft>
                      </a:pPr>
                      <a:r>
                        <a:rPr sz="1050" b="1" i="0" spc="160">
                          <a:solidFill>
                            <a:srgbClr val="313A44"/>
                          </a:solidFill>
                          <a:latin typeface="Segoe UI"/>
                        </a:rPr>
                        <a:t>BEFORE</a:t>
                      </a:r>
                    </a:p>
                  </a:txBody>
                  <a:tcPr marL="128016" marR="128016" marT="54864" marB="54864" anchor="ctr">
                    <a:solidFill>
                      <a:srgbClr val="E6E3DB"/>
                    </a:solidFill>
                  </a:tcPr>
                </a:tc>
                <a:tc>
                  <a:txBody>
                    <a:bodyPr wrap="square"/>
                    <a:lstStyle/>
                    <a:p>
                      <a:pPr algn="l">
                        <a:lnSpc>
                          <a:spcPts val="1220"/>
                        </a:lnSpc>
                        <a:spcBef>
                          <a:spcPts val="0"/>
                        </a:spcBef>
                        <a:spcAft>
                          <a:spcPts val="0"/>
                        </a:spcAft>
                      </a:pPr>
                      <a:r>
                        <a:rPr sz="1050" b="1" i="0" spc="160">
                          <a:solidFill>
                            <a:srgbClr val="F5F3ED"/>
                          </a:solidFill>
                          <a:latin typeface="Segoe UI"/>
                        </a:rPr>
                        <a:t>AFTER</a:t>
                      </a:r>
                    </a:p>
                  </a:txBody>
                  <a:tcPr marL="128016" marR="128016" marT="54864" marB="54864" anchor="ctr">
                    <a:solidFill>
                      <a:srgbClr val="313A44"/>
                    </a:solidFill>
                  </a:tcPr>
                </a:tc>
              </a:tr>
              <a:tr h="475488">
                <a:tc>
                  <a:txBody>
                    <a:bodyPr wrap="square"/>
                    <a:lstStyle/>
                    <a:p>
                      <a:pPr algn="l">
                        <a:lnSpc>
                          <a:spcPts val="1570"/>
                        </a:lnSpc>
                        <a:spcBef>
                          <a:spcPts val="0"/>
                        </a:spcBef>
                        <a:spcAft>
                          <a:spcPts val="0"/>
                        </a:spcAft>
                      </a:pPr>
                      <a:r>
                        <a:rPr sz="1350" b="0" i="0">
                          <a:solidFill>
                            <a:srgbClr val="7A8290"/>
                          </a:solidFill>
                          <a:latin typeface="Segoe UI"/>
                        </a:rPr>
                        <a:t>Free-text email</a:t>
                      </a:r>
                    </a:p>
                  </a:txBody>
                  <a:tcPr marL="128016" marR="128016" marT="54864" marB="54864" anchor="ctr">
                    <a:solidFill>
                      <a:srgbClr val="FFFFFF"/>
                    </a:solidFill>
                  </a:tcPr>
                </a:tc>
                <a:tc>
                  <a:txBody>
                    <a:bodyPr wrap="square"/>
                    <a:lstStyle/>
                    <a:p>
                      <a:pPr algn="l">
                        <a:lnSpc>
                          <a:spcPts val="1570"/>
                        </a:lnSpc>
                        <a:spcBef>
                          <a:spcPts val="0"/>
                        </a:spcBef>
                        <a:spcAft>
                          <a:spcPts val="0"/>
                        </a:spcAft>
                      </a:pPr>
                      <a:r>
                        <a:rPr sz="1350" b="1" i="0">
                          <a:solidFill>
                            <a:srgbClr val="313A44"/>
                          </a:solidFill>
                          <a:latin typeface="Segoe UI"/>
                        </a:rPr>
                        <a:t>Structured diff: this transaction, these fields, these values</a:t>
                      </a:r>
                    </a:p>
                  </a:txBody>
                  <a:tcPr marL="128016" marR="128016" marT="54864" marB="54864" anchor="ctr">
                    <a:solidFill>
                      <a:srgbClr val="FBF5D6"/>
                    </a:solidFill>
                  </a:tcPr>
                </a:tc>
              </a:tr>
              <a:tr h="475488">
                <a:tc>
                  <a:txBody>
                    <a:bodyPr wrap="square"/>
                    <a:lstStyle/>
                    <a:p>
                      <a:pPr algn="l">
                        <a:lnSpc>
                          <a:spcPts val="1570"/>
                        </a:lnSpc>
                        <a:spcBef>
                          <a:spcPts val="0"/>
                        </a:spcBef>
                        <a:spcAft>
                          <a:spcPts val="0"/>
                        </a:spcAft>
                      </a:pPr>
                      <a:r>
                        <a:rPr sz="1350" b="0" i="0">
                          <a:solidFill>
                            <a:srgbClr val="7A8290"/>
                          </a:solidFill>
                          <a:latin typeface="Segoe UI"/>
                        </a:rPr>
                        <a:t>Requester types a cost center that can't receive charges</a:t>
                      </a:r>
                    </a:p>
                  </a:txBody>
                  <a:tcPr marL="128016" marR="128016" marT="54864" marB="54864" anchor="ctr">
                    <a:solidFill>
                      <a:srgbClr val="FFFFFF"/>
                    </a:solidFill>
                  </a:tcPr>
                </a:tc>
                <a:tc>
                  <a:txBody>
                    <a:bodyPr wrap="square"/>
                    <a:lstStyle/>
                    <a:p>
                      <a:pPr algn="l">
                        <a:lnSpc>
                          <a:spcPts val="1570"/>
                        </a:lnSpc>
                        <a:spcBef>
                          <a:spcPts val="0"/>
                        </a:spcBef>
                        <a:spcAft>
                          <a:spcPts val="0"/>
                        </a:spcAft>
                      </a:pPr>
                      <a:r>
                        <a:rPr sz="1350" b="1" i="0">
                          <a:solidFill>
                            <a:srgbClr val="313A44"/>
                          </a:solidFill>
                          <a:latin typeface="Segoe UI"/>
                        </a:rPr>
                        <a:t>It isn't selectable</a:t>
                      </a:r>
                    </a:p>
                  </a:txBody>
                  <a:tcPr marL="128016" marR="128016" marT="54864" marB="54864" anchor="ctr">
                    <a:solidFill>
                      <a:srgbClr val="FBF5D6"/>
                    </a:solidFill>
                  </a:tcPr>
                </a:tc>
              </a:tr>
              <a:tr h="475488">
                <a:tc>
                  <a:txBody>
                    <a:bodyPr wrap="square"/>
                    <a:lstStyle/>
                    <a:p>
                      <a:pPr algn="l">
                        <a:lnSpc>
                          <a:spcPts val="1570"/>
                        </a:lnSpc>
                        <a:spcBef>
                          <a:spcPts val="0"/>
                        </a:spcBef>
                        <a:spcAft>
                          <a:spcPts val="0"/>
                        </a:spcAft>
                      </a:pPr>
                      <a:r>
                        <a:rPr sz="1350" b="0" i="0">
                          <a:solidFill>
                            <a:srgbClr val="7A8290"/>
                          </a:solidFill>
                          <a:latin typeface="Segoe UI"/>
                        </a:rPr>
                        <a:t>Error caught at month-end batch</a:t>
                      </a:r>
                    </a:p>
                  </a:txBody>
                  <a:tcPr marL="128016" marR="128016" marT="54864" marB="54864" anchor="ctr">
                    <a:solidFill>
                      <a:srgbClr val="FFFFFF"/>
                    </a:solidFill>
                  </a:tcPr>
                </a:tc>
                <a:tc>
                  <a:txBody>
                    <a:bodyPr wrap="square"/>
                    <a:lstStyle/>
                    <a:p>
                      <a:pPr algn="l">
                        <a:lnSpc>
                          <a:spcPts val="1570"/>
                        </a:lnSpc>
                        <a:spcBef>
                          <a:spcPts val="0"/>
                        </a:spcBef>
                        <a:spcAft>
                          <a:spcPts val="0"/>
                        </a:spcAft>
                      </a:pPr>
                      <a:r>
                        <a:rPr sz="1350" b="1" i="0">
                          <a:solidFill>
                            <a:srgbClr val="313A44"/>
                          </a:solidFill>
                          <a:latin typeface="Segoe UI"/>
                        </a:rPr>
                        <a:t>Error caught before submit</a:t>
                      </a:r>
                    </a:p>
                  </a:txBody>
                  <a:tcPr marL="128016" marR="128016" marT="54864" marB="54864" anchor="ctr">
                    <a:solidFill>
                      <a:srgbClr val="FBF5D6"/>
                    </a:solidFill>
                  </a:tcPr>
                </a:tc>
              </a:tr>
              <a:tr h="475488">
                <a:tc>
                  <a:txBody>
                    <a:bodyPr wrap="square"/>
                    <a:lstStyle/>
                    <a:p>
                      <a:pPr algn="l">
                        <a:lnSpc>
                          <a:spcPts val="1570"/>
                        </a:lnSpc>
                        <a:spcBef>
                          <a:spcPts val="0"/>
                        </a:spcBef>
                        <a:spcAft>
                          <a:spcPts val="0"/>
                        </a:spcAft>
                      </a:pPr>
                      <a:r>
                        <a:rPr sz="1350" b="0" i="0">
                          <a:solidFill>
                            <a:srgbClr val="7A8290"/>
                          </a:solidFill>
                          <a:latin typeface="Segoe UI"/>
                        </a:rPr>
                        <a:t>Rules in one head + four disagreeing documents</a:t>
                      </a:r>
                    </a:p>
                  </a:txBody>
                  <a:tcPr marL="128016" marR="128016" marT="54864" marB="54864" anchor="ctr">
                    <a:solidFill>
                      <a:srgbClr val="FFFFFF"/>
                    </a:solidFill>
                  </a:tcPr>
                </a:tc>
                <a:tc>
                  <a:txBody>
                    <a:bodyPr wrap="square"/>
                    <a:lstStyle/>
                    <a:p>
                      <a:pPr algn="l">
                        <a:lnSpc>
                          <a:spcPts val="1570"/>
                        </a:lnSpc>
                        <a:spcBef>
                          <a:spcPts val="0"/>
                        </a:spcBef>
                        <a:spcAft>
                          <a:spcPts val="0"/>
                        </a:spcAft>
                      </a:pPr>
                      <a:r>
                        <a:rPr sz="1350" b="1" i="0">
                          <a:solidFill>
                            <a:srgbClr val="313A44"/>
                          </a:solidFill>
                          <a:latin typeface="Segoe UI"/>
                        </a:rPr>
                        <a:t>Rules in version-controlled code, with citations and tests</a:t>
                      </a:r>
                    </a:p>
                  </a:txBody>
                  <a:tcPr marL="128016" marR="128016" marT="54864" marB="54864" anchor="ctr">
                    <a:solidFill>
                      <a:srgbClr val="FBF5D6"/>
                    </a:solidFill>
                  </a:tcPr>
                </a:tc>
              </a:tr>
              <a:tr h="475488">
                <a:tc>
                  <a:txBody>
                    <a:bodyPr wrap="square"/>
                    <a:lstStyle/>
                    <a:p>
                      <a:pPr algn="l">
                        <a:lnSpc>
                          <a:spcPts val="1570"/>
                        </a:lnSpc>
                        <a:spcBef>
                          <a:spcPts val="0"/>
                        </a:spcBef>
                        <a:spcAft>
                          <a:spcPts val="0"/>
                        </a:spcAft>
                      </a:pPr>
                      <a:r>
                        <a:rPr sz="1350" b="0" i="0">
                          <a:solidFill>
                            <a:srgbClr val="7A8290"/>
                          </a:solidFill>
                          <a:latin typeface="Segoe UI"/>
                        </a:rPr>
                        <a:t>Requester learns by rejection</a:t>
                      </a:r>
                    </a:p>
                  </a:txBody>
                  <a:tcPr marL="128016" marR="128016" marT="54864" marB="54864" anchor="ctr">
                    <a:solidFill>
                      <a:srgbClr val="FFFFFF"/>
                    </a:solidFill>
                  </a:tcPr>
                </a:tc>
                <a:tc>
                  <a:txBody>
                    <a:bodyPr wrap="square"/>
                    <a:lstStyle/>
                    <a:p>
                      <a:pPr algn="l">
                        <a:lnSpc>
                          <a:spcPts val="1570"/>
                        </a:lnSpc>
                        <a:spcBef>
                          <a:spcPts val="0"/>
                        </a:spcBef>
                        <a:spcAft>
                          <a:spcPts val="0"/>
                        </a:spcAft>
                      </a:pPr>
                      <a:r>
                        <a:rPr sz="1350" b="1" i="0">
                          <a:solidFill>
                            <a:srgbClr val="313A44"/>
                          </a:solidFill>
                          <a:latin typeface="Segoe UI"/>
                        </a:rPr>
                        <a:t>Requester learns by tooltip</a:t>
                      </a:r>
                    </a:p>
                  </a:txBody>
                  <a:tcPr marL="128016" marR="128016" marT="54864" marB="54864" anchor="ctr">
                    <a:solidFill>
                      <a:srgbClr val="FBF5D6"/>
                    </a:solidFill>
                  </a:tcPr>
                </a:tc>
              </a:tr>
              <a:tr h="475488">
                <a:tc>
                  <a:txBody>
                    <a:bodyPr wrap="square"/>
                    <a:lstStyle/>
                    <a:p>
                      <a:pPr algn="l">
                        <a:lnSpc>
                          <a:spcPts val="1570"/>
                        </a:lnSpc>
                        <a:spcBef>
                          <a:spcPts val="0"/>
                        </a:spcBef>
                        <a:spcAft>
                          <a:spcPts val="0"/>
                        </a:spcAft>
                      </a:pPr>
                      <a:r>
                        <a:rPr sz="1350" b="0" i="0">
                          <a:solidFill>
                            <a:srgbClr val="7A8290"/>
                          </a:solidFill>
                          <a:latin typeface="Segoe UI"/>
                        </a:rPr>
                        <a:t>Submissions reassembled by hand for handoff</a:t>
                      </a:r>
                    </a:p>
                  </a:txBody>
                  <a:tcPr marL="128016" marR="128016" marT="54864" marB="54864" anchor="ctr">
                    <a:solidFill>
                      <a:srgbClr val="FFFFFF"/>
                    </a:solidFill>
                  </a:tcPr>
                </a:tc>
                <a:tc>
                  <a:txBody>
                    <a:bodyPr wrap="square"/>
                    <a:lstStyle/>
                    <a:p>
                      <a:pPr algn="l">
                        <a:lnSpc>
                          <a:spcPts val="1570"/>
                        </a:lnSpc>
                        <a:spcBef>
                          <a:spcPts val="0"/>
                        </a:spcBef>
                        <a:spcAft>
                          <a:spcPts val="0"/>
                        </a:spcAft>
                      </a:pPr>
                      <a:r>
                        <a:rPr sz="1350" b="1" i="0">
                          <a:solidFill>
                            <a:srgbClr val="313A44"/>
                          </a:solidFill>
                          <a:latin typeface="Segoe UI"/>
                        </a:rPr>
                        <a:t>One consolidated file, generated</a:t>
                      </a:r>
                    </a:p>
                  </a:txBody>
                  <a:tcPr marL="128016" marR="128016" marT="54864" marB="54864" anchor="ctr">
                    <a:solidFill>
                      <a:srgbClr val="FBF5D6"/>
                    </a:solidFill>
                  </a:tcPr>
                </a:tc>
              </a:tr>
              <a:tr h="475488">
                <a:tc>
                  <a:txBody>
                    <a:bodyPr wrap="square"/>
                    <a:lstStyle/>
                    <a:p>
                      <a:pPr algn="l">
                        <a:lnSpc>
                          <a:spcPts val="1570"/>
                        </a:lnSpc>
                        <a:spcBef>
                          <a:spcPts val="0"/>
                        </a:spcBef>
                        <a:spcAft>
                          <a:spcPts val="0"/>
                        </a:spcAft>
                      </a:pPr>
                      <a:r>
                        <a:rPr sz="1350" b="0" i="0">
                          <a:solidFill>
                            <a:srgbClr val="7A8290"/>
                          </a:solidFill>
                          <a:latin typeface="Segoe UI"/>
                        </a:rPr>
                        <a:t>“When will this land?”</a:t>
                      </a:r>
                    </a:p>
                  </a:txBody>
                  <a:tcPr marL="128016" marR="128016" marT="54864" marB="54864" anchor="ctr">
                    <a:solidFill>
                      <a:srgbClr val="FFFFFF"/>
                    </a:solidFill>
                  </a:tcPr>
                </a:tc>
                <a:tc>
                  <a:txBody>
                    <a:bodyPr wrap="square"/>
                    <a:lstStyle/>
                    <a:p>
                      <a:pPr algn="l">
                        <a:lnSpc>
                          <a:spcPts val="1570"/>
                        </a:lnSpc>
                        <a:spcBef>
                          <a:spcPts val="0"/>
                        </a:spcBef>
                        <a:spcAft>
                          <a:spcPts val="0"/>
                        </a:spcAft>
                      </a:pPr>
                      <a:r>
                        <a:rPr sz="1350" b="1" i="0">
                          <a:solidFill>
                            <a:srgbClr val="313A44"/>
                          </a:solidFill>
                          <a:latin typeface="Segoe UI"/>
                        </a:rPr>
                        <a:t>“Processes 31 Aug  ·  posts by 14 Sep”</a:t>
                      </a:r>
                    </a:p>
                  </a:txBody>
                  <a:tcPr marL="128016" marR="128016" marT="54864" marB="54864" anchor="ctr">
                    <a:solidFill>
                      <a:srgbClr val="FBF5D6"/>
                    </a:solidFill>
                  </a:tcPr>
                </a:tc>
              </a:tr>
            </a:tbl>
          </a:graphicData>
        </a:graphic>
      </p:graphicFrame>
      <p:sp>
        <p:nvSpPr>
          <p:cNvPr id="6" name="TextBox 5"/>
          <p:cNvSpPr txBox="1"/>
          <p:nvPr/>
        </p:nvSpPr>
        <p:spPr>
          <a:xfrm>
            <a:off x="777240" y="5907024"/>
            <a:ext cx="10637215" cy="365760"/>
          </a:xfrm>
          <a:prstGeom prst="rect">
            <a:avLst/>
          </a:prstGeom>
          <a:noFill/>
        </p:spPr>
        <p:txBody>
          <a:bodyPr wrap="square" anchor="t" lIns="0" tIns="0" rIns="0" bIns="0">
            <a:noAutofit/>
          </a:bodyPr>
          <a:lstStyle/>
          <a:p>
            <a:pPr algn="l">
              <a:lnSpc>
                <a:spcPts val="1560"/>
              </a:lnSpc>
              <a:spcBef>
                <a:spcPts val="0"/>
              </a:spcBef>
              <a:spcAft>
                <a:spcPts val="0"/>
              </a:spcAft>
            </a:pPr>
            <a:r>
              <a:rPr sz="1300" b="0" i="0">
                <a:solidFill>
                  <a:srgbClr val="7A8290"/>
                </a:solidFill>
                <a:latin typeface="Segoe UI"/>
              </a:rPr>
              <a:t>Same requester, same inbox, same downstream file. The difference is that the request is now checkable.</a:t>
            </a:r>
          </a:p>
        </p:txBody>
      </p:sp>
      <p:sp>
        <p:nvSpPr>
          <p:cNvPr id="7" name="TextBox 6"/>
          <p:cNvSpPr txBox="1"/>
          <p:nvPr/>
        </p:nvSpPr>
        <p:spPr>
          <a:xfrm>
            <a:off x="777240" y="6382512"/>
            <a:ext cx="10637215" cy="274320"/>
          </a:xfrm>
          <a:prstGeom prst="rect">
            <a:avLst/>
          </a:prstGeom>
          <a:noFill/>
        </p:spPr>
        <p:txBody>
          <a:bodyPr wrap="square" anchor="t" lIns="0" tIns="0" rIns="0" bIns="0">
            <a:noAutofit/>
          </a:bodyPr>
          <a:lstStyle/>
          <a:p>
            <a:pPr algn="l">
              <a:lnSpc>
                <a:spcPts val="1080"/>
              </a:lnSpc>
              <a:spcBef>
                <a:spcPts val="0"/>
              </a:spcBef>
              <a:spcAft>
                <a:spcPts val="0"/>
              </a:spcAft>
            </a:pPr>
            <a:r>
              <a:rPr sz="900" b="0" i="0" spc="60">
                <a:solidFill>
                  <a:srgbClr val="7A8290"/>
                </a:solidFill>
                <a:latin typeface="Segoe UI"/>
              </a:rPr>
              <a:t>Reclass Intake  ·  Casey Dobrowolski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itle 1"/>
          <p:cNvSpPr>
            <a:spLocks noGrp="1"/>
          </p:cNvSpPr>
          <p:nvPr>
            <p:ph type="title"/>
          </p:nvPr>
        </p:nvSpPr>
        <p:spPr>
          <a:xfrm>
            <a:off x="777240" y="786384"/>
            <a:ext cx="10637215" cy="713232"/>
          </a:xfrm>
        </p:spPr>
        <p:txBody>
          <a:bodyPr wrap="square" anchor="t" lIns="0" rIns="0" tIns="0" bIns="0">
            <a:noAutofit/>
          </a:bodyPr>
          <a:lstStyle/>
          <a:p>
            <a:pPr algn="l">
              <a:lnSpc>
                <a:spcPts val="3360"/>
              </a:lnSpc>
            </a:pPr>
            <a:r>
              <a:rPr sz="3000" b="1" spc="-20">
                <a:solidFill>
                  <a:srgbClr val="313A44"/>
                </a:solidFill>
                <a:latin typeface="Georgia"/>
              </a:rPr>
              <a:t>Paste a key. Pick the changes. Get the file.</a:t>
            </a:r>
          </a:p>
        </p:txBody>
      </p:sp>
      <p:sp>
        <p:nvSpPr>
          <p:cNvPr id="3" name="TextBox 2"/>
          <p:cNvSpPr txBox="1"/>
          <p:nvPr/>
        </p:nvSpPr>
        <p:spPr>
          <a:xfrm>
            <a:off x="777240" y="475488"/>
            <a:ext cx="10637215" cy="256032"/>
          </a:xfrm>
          <a:prstGeom prst="rect">
            <a:avLst/>
          </a:prstGeom>
          <a:noFill/>
        </p:spPr>
        <p:txBody>
          <a:bodyPr wrap="square" anchor="t" lIns="0" tIns="0" rIns="0" bIns="0">
            <a:noAutofit/>
          </a:bodyPr>
          <a:lstStyle/>
          <a:p>
            <a:pPr algn="l">
              <a:lnSpc>
                <a:spcPts val="1260"/>
              </a:lnSpc>
              <a:spcBef>
                <a:spcPts val="0"/>
              </a:spcBef>
              <a:spcAft>
                <a:spcPts val="0"/>
              </a:spcAft>
            </a:pPr>
            <a:r>
              <a:rPr sz="1050" b="1" i="0" spc="140">
                <a:solidFill>
                  <a:srgbClr val="7A8290"/>
                </a:solidFill>
                <a:latin typeface="Segoe UI"/>
              </a:rPr>
              <a:t>WHAT IT DOES</a:t>
            </a:r>
          </a:p>
        </p:txBody>
      </p:sp>
      <p:sp>
        <p:nvSpPr>
          <p:cNvPr id="4" name="Rectangle 3"/>
          <p:cNvSpPr/>
          <p:nvPr/>
        </p:nvSpPr>
        <p:spPr>
          <a:xfrm>
            <a:off x="777240" y="1591056"/>
            <a:ext cx="1051560"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ectangle 4"/>
          <p:cNvSpPr/>
          <p:nvPr/>
        </p:nvSpPr>
        <p:spPr>
          <a:xfrm>
            <a:off x="777240" y="1975104"/>
            <a:ext cx="3338474" cy="1627632"/>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ectangle 5"/>
          <p:cNvSpPr/>
          <p:nvPr/>
        </p:nvSpPr>
        <p:spPr>
          <a:xfrm>
            <a:off x="1033271" y="2212848"/>
            <a:ext cx="365760" cy="292608"/>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800"/>
              </a:lnSpc>
              <a:spcBef>
                <a:spcPts val="0"/>
              </a:spcBef>
              <a:spcAft>
                <a:spcPts val="0"/>
              </a:spcAft>
            </a:pPr>
            <a:r>
              <a:rPr sz="1500" b="1" i="0">
                <a:solidFill>
                  <a:srgbClr val="313A44"/>
                </a:solidFill>
                <a:latin typeface="Georgia"/>
              </a:rPr>
              <a:t>1</a:t>
            </a:r>
          </a:p>
        </p:txBody>
      </p:sp>
      <p:sp>
        <p:nvSpPr>
          <p:cNvPr id="7" name="TextBox 6"/>
          <p:cNvSpPr txBox="1"/>
          <p:nvPr/>
        </p:nvSpPr>
        <p:spPr>
          <a:xfrm>
            <a:off x="1508760" y="2194560"/>
            <a:ext cx="2350922" cy="512064"/>
          </a:xfrm>
          <a:prstGeom prst="rect">
            <a:avLst/>
          </a:prstGeom>
          <a:noFill/>
        </p:spPr>
        <p:txBody>
          <a:bodyPr wrap="square" anchor="t" lIns="0" tIns="0" rIns="0" bIns="0">
            <a:noAutofit/>
          </a:bodyPr>
          <a:lstStyle/>
          <a:p>
            <a:pPr algn="l">
              <a:lnSpc>
                <a:spcPts val="1650"/>
              </a:lnSpc>
              <a:spcBef>
                <a:spcPts val="0"/>
              </a:spcBef>
              <a:spcAft>
                <a:spcPts val="0"/>
              </a:spcAft>
            </a:pPr>
            <a:r>
              <a:rPr sz="1500" b="1" i="0">
                <a:solidFill>
                  <a:srgbClr val="313A44"/>
                </a:solidFill>
                <a:latin typeface="Georgia"/>
              </a:rPr>
              <a:t>Paste a GL Business Key</a:t>
            </a:r>
          </a:p>
        </p:txBody>
      </p:sp>
      <p:sp>
        <p:nvSpPr>
          <p:cNvPr id="8" name="TextBox 7"/>
          <p:cNvSpPr txBox="1"/>
          <p:nvPr/>
        </p:nvSpPr>
        <p:spPr>
          <a:xfrm>
            <a:off x="1033271" y="2761488"/>
            <a:ext cx="2826410" cy="749808"/>
          </a:xfrm>
          <a:prstGeom prst="rect">
            <a:avLst/>
          </a:prstGeom>
          <a:noFill/>
        </p:spPr>
        <p:txBody>
          <a:bodyPr wrap="square" anchor="t" lIns="0" tIns="0" rIns="0" bIns="0">
            <a:noAutofit/>
          </a:bodyPr>
          <a:lstStyle/>
          <a:p>
            <a:pPr algn="l">
              <a:lnSpc>
                <a:spcPts val="1490"/>
              </a:lnSpc>
              <a:spcBef>
                <a:spcPts val="0"/>
              </a:spcBef>
              <a:spcAft>
                <a:spcPts val="0"/>
              </a:spcAft>
            </a:pPr>
            <a:r>
              <a:rPr sz="1200" b="0" i="0">
                <a:solidFill>
                  <a:srgbClr val="4A535E"/>
                </a:solidFill>
                <a:latin typeface="Segoe UI"/>
              </a:rPr>
              <a:t>One field, unique. No compound-key ambiguity.</a:t>
            </a:r>
          </a:p>
        </p:txBody>
      </p:sp>
      <p:sp>
        <p:nvSpPr>
          <p:cNvPr id="9" name="Rectangle 8"/>
          <p:cNvSpPr/>
          <p:nvPr/>
        </p:nvSpPr>
        <p:spPr>
          <a:xfrm>
            <a:off x="4426610" y="1975104"/>
            <a:ext cx="3338474" cy="1627632"/>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ectangle 9"/>
          <p:cNvSpPr/>
          <p:nvPr/>
        </p:nvSpPr>
        <p:spPr>
          <a:xfrm>
            <a:off x="4682642" y="2212848"/>
            <a:ext cx="365760" cy="292608"/>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800"/>
              </a:lnSpc>
              <a:spcBef>
                <a:spcPts val="0"/>
              </a:spcBef>
              <a:spcAft>
                <a:spcPts val="0"/>
              </a:spcAft>
            </a:pPr>
            <a:r>
              <a:rPr sz="1500" b="1" i="0">
                <a:solidFill>
                  <a:srgbClr val="313A44"/>
                </a:solidFill>
                <a:latin typeface="Georgia"/>
              </a:rPr>
              <a:t>2</a:t>
            </a:r>
          </a:p>
        </p:txBody>
      </p:sp>
      <p:sp>
        <p:nvSpPr>
          <p:cNvPr id="11" name="TextBox 10"/>
          <p:cNvSpPr txBox="1"/>
          <p:nvPr/>
        </p:nvSpPr>
        <p:spPr>
          <a:xfrm>
            <a:off x="5158130" y="2194560"/>
            <a:ext cx="2350922" cy="512064"/>
          </a:xfrm>
          <a:prstGeom prst="rect">
            <a:avLst/>
          </a:prstGeom>
          <a:noFill/>
        </p:spPr>
        <p:txBody>
          <a:bodyPr wrap="square" anchor="t" lIns="0" tIns="0" rIns="0" bIns="0">
            <a:noAutofit/>
          </a:bodyPr>
          <a:lstStyle/>
          <a:p>
            <a:pPr algn="l">
              <a:lnSpc>
                <a:spcPts val="1650"/>
              </a:lnSpc>
              <a:spcBef>
                <a:spcPts val="0"/>
              </a:spcBef>
              <a:spcAft>
                <a:spcPts val="0"/>
              </a:spcAft>
            </a:pPr>
            <a:r>
              <a:rPr sz="1500" b="1" i="0">
                <a:solidFill>
                  <a:srgbClr val="313A44"/>
                </a:solidFill>
                <a:latin typeface="Georgia"/>
              </a:rPr>
              <a:t>The transaction arrives live</a:t>
            </a:r>
          </a:p>
        </p:txBody>
      </p:sp>
      <p:sp>
        <p:nvSpPr>
          <p:cNvPr id="12" name="TextBox 11"/>
          <p:cNvSpPr txBox="1"/>
          <p:nvPr/>
        </p:nvSpPr>
        <p:spPr>
          <a:xfrm>
            <a:off x="4682642" y="2761488"/>
            <a:ext cx="2826410" cy="749808"/>
          </a:xfrm>
          <a:prstGeom prst="rect">
            <a:avLst/>
          </a:prstGeom>
          <a:noFill/>
        </p:spPr>
        <p:txBody>
          <a:bodyPr wrap="square" anchor="t" lIns="0" tIns="0" rIns="0" bIns="0">
            <a:noAutofit/>
          </a:bodyPr>
          <a:lstStyle/>
          <a:p>
            <a:pPr algn="l">
              <a:lnSpc>
                <a:spcPts val="1490"/>
              </a:lnSpc>
              <a:spcBef>
                <a:spcPts val="0"/>
              </a:spcBef>
              <a:spcAft>
                <a:spcPts val="0"/>
              </a:spcAft>
            </a:pPr>
            <a:r>
              <a:rPr sz="1200" b="0" i="0">
                <a:solidFill>
                  <a:srgbClr val="4A535E"/>
                </a:solidFill>
                <a:latin typeface="Segoe UI"/>
              </a:rPr>
              <a:t>23 fields from the Budget-to-Actuals model. No export, no copy-paste.</a:t>
            </a:r>
          </a:p>
        </p:txBody>
      </p:sp>
      <p:sp>
        <p:nvSpPr>
          <p:cNvPr id="13" name="Rectangle 12"/>
          <p:cNvSpPr/>
          <p:nvPr/>
        </p:nvSpPr>
        <p:spPr>
          <a:xfrm>
            <a:off x="8075980" y="1975104"/>
            <a:ext cx="3338474" cy="1627632"/>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ectangle 13"/>
          <p:cNvSpPr/>
          <p:nvPr/>
        </p:nvSpPr>
        <p:spPr>
          <a:xfrm>
            <a:off x="8332012" y="2212848"/>
            <a:ext cx="365760" cy="292608"/>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800"/>
              </a:lnSpc>
              <a:spcBef>
                <a:spcPts val="0"/>
              </a:spcBef>
              <a:spcAft>
                <a:spcPts val="0"/>
              </a:spcAft>
            </a:pPr>
            <a:r>
              <a:rPr sz="1500" b="1" i="0">
                <a:solidFill>
                  <a:srgbClr val="313A44"/>
                </a:solidFill>
                <a:latin typeface="Georgia"/>
              </a:rPr>
              <a:t>3</a:t>
            </a:r>
          </a:p>
        </p:txBody>
      </p:sp>
      <p:sp>
        <p:nvSpPr>
          <p:cNvPr id="15" name="TextBox 14"/>
          <p:cNvSpPr txBox="1"/>
          <p:nvPr/>
        </p:nvSpPr>
        <p:spPr>
          <a:xfrm>
            <a:off x="8807500" y="2194560"/>
            <a:ext cx="2350922" cy="512064"/>
          </a:xfrm>
          <a:prstGeom prst="rect">
            <a:avLst/>
          </a:prstGeom>
          <a:noFill/>
        </p:spPr>
        <p:txBody>
          <a:bodyPr wrap="square" anchor="t" lIns="0" tIns="0" rIns="0" bIns="0">
            <a:noAutofit/>
          </a:bodyPr>
          <a:lstStyle/>
          <a:p>
            <a:pPr algn="l">
              <a:lnSpc>
                <a:spcPts val="1650"/>
              </a:lnSpc>
              <a:spcBef>
                <a:spcPts val="0"/>
              </a:spcBef>
              <a:spcAft>
                <a:spcPts val="0"/>
              </a:spcAft>
            </a:pPr>
            <a:r>
              <a:rPr sz="1500" b="1" i="0">
                <a:solidFill>
                  <a:srgbClr val="313A44"/>
                </a:solidFill>
                <a:latin typeface="Georgia"/>
              </a:rPr>
              <a:t>Tick what changes</a:t>
            </a:r>
          </a:p>
        </p:txBody>
      </p:sp>
      <p:sp>
        <p:nvSpPr>
          <p:cNvPr id="16" name="TextBox 15"/>
          <p:cNvSpPr txBox="1"/>
          <p:nvPr/>
        </p:nvSpPr>
        <p:spPr>
          <a:xfrm>
            <a:off x="8332012" y="2761488"/>
            <a:ext cx="2826410" cy="749808"/>
          </a:xfrm>
          <a:prstGeom prst="rect">
            <a:avLst/>
          </a:prstGeom>
          <a:noFill/>
        </p:spPr>
        <p:txBody>
          <a:bodyPr wrap="square" anchor="t" lIns="0" tIns="0" rIns="0" bIns="0">
            <a:noAutofit/>
          </a:bodyPr>
          <a:lstStyle/>
          <a:p>
            <a:pPr algn="l">
              <a:lnSpc>
                <a:spcPts val="1490"/>
              </a:lnSpc>
              <a:spcBef>
                <a:spcPts val="0"/>
              </a:spcBef>
              <a:spcAft>
                <a:spcPts val="0"/>
              </a:spcAft>
            </a:pPr>
            <a:r>
              <a:rPr sz="1200" b="0" i="0">
                <a:solidFill>
                  <a:srgbClr val="4A535E"/>
                </a:solidFill>
                <a:latin typeface="Segoe UI"/>
              </a:rPr>
              <a:t>Cost center, account, project/event, contract ID — any combination.</a:t>
            </a:r>
          </a:p>
        </p:txBody>
      </p:sp>
      <p:sp>
        <p:nvSpPr>
          <p:cNvPr id="17" name="Rectangle 16"/>
          <p:cNvSpPr/>
          <p:nvPr/>
        </p:nvSpPr>
        <p:spPr>
          <a:xfrm>
            <a:off x="777240" y="3822191"/>
            <a:ext cx="3338474" cy="1627632"/>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Rectangle 17"/>
          <p:cNvSpPr/>
          <p:nvPr/>
        </p:nvSpPr>
        <p:spPr>
          <a:xfrm>
            <a:off x="1033271" y="4059935"/>
            <a:ext cx="365760" cy="292608"/>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800"/>
              </a:lnSpc>
              <a:spcBef>
                <a:spcPts val="0"/>
              </a:spcBef>
              <a:spcAft>
                <a:spcPts val="0"/>
              </a:spcAft>
            </a:pPr>
            <a:r>
              <a:rPr sz="1500" b="1" i="0">
                <a:solidFill>
                  <a:srgbClr val="313A44"/>
                </a:solidFill>
                <a:latin typeface="Georgia"/>
              </a:rPr>
              <a:t>4</a:t>
            </a:r>
          </a:p>
        </p:txBody>
      </p:sp>
      <p:sp>
        <p:nvSpPr>
          <p:cNvPr id="19" name="TextBox 18"/>
          <p:cNvSpPr txBox="1"/>
          <p:nvPr/>
        </p:nvSpPr>
        <p:spPr>
          <a:xfrm>
            <a:off x="1508760" y="4041648"/>
            <a:ext cx="2350922" cy="512064"/>
          </a:xfrm>
          <a:prstGeom prst="rect">
            <a:avLst/>
          </a:prstGeom>
          <a:noFill/>
        </p:spPr>
        <p:txBody>
          <a:bodyPr wrap="square" anchor="t" lIns="0" tIns="0" rIns="0" bIns="0">
            <a:noAutofit/>
          </a:bodyPr>
          <a:lstStyle/>
          <a:p>
            <a:pPr algn="l">
              <a:lnSpc>
                <a:spcPts val="1650"/>
              </a:lnSpc>
              <a:spcBef>
                <a:spcPts val="0"/>
              </a:spcBef>
              <a:spcAft>
                <a:spcPts val="0"/>
              </a:spcAft>
            </a:pPr>
            <a:r>
              <a:rPr sz="1500" b="1" i="0">
                <a:solidFill>
                  <a:srgbClr val="313A44"/>
                </a:solidFill>
                <a:latin typeface="Georgia"/>
              </a:rPr>
              <a:t>Pick new values</a:t>
            </a:r>
          </a:p>
        </p:txBody>
      </p:sp>
      <p:sp>
        <p:nvSpPr>
          <p:cNvPr id="20" name="TextBox 19"/>
          <p:cNvSpPr txBox="1"/>
          <p:nvPr/>
        </p:nvSpPr>
        <p:spPr>
          <a:xfrm>
            <a:off x="1033271" y="4608576"/>
            <a:ext cx="2826410" cy="749808"/>
          </a:xfrm>
          <a:prstGeom prst="rect">
            <a:avLst/>
          </a:prstGeom>
          <a:noFill/>
        </p:spPr>
        <p:txBody>
          <a:bodyPr wrap="square" anchor="t" lIns="0" tIns="0" rIns="0" bIns="0">
            <a:noAutofit/>
          </a:bodyPr>
          <a:lstStyle/>
          <a:p>
            <a:pPr algn="l">
              <a:lnSpc>
                <a:spcPts val="1490"/>
              </a:lnSpc>
              <a:spcBef>
                <a:spcPts val="0"/>
              </a:spcBef>
              <a:spcAft>
                <a:spcPts val="0"/>
              </a:spcAft>
            </a:pPr>
            <a:r>
              <a:rPr sz="1200" b="0" i="0">
                <a:solidFill>
                  <a:srgbClr val="4A535E"/>
                </a:solidFill>
                <a:latin typeface="Segoe UI"/>
              </a:rPr>
              <a:t>Dropdowns from live dimension data, your division first. Invalid targets visible but unselectable.</a:t>
            </a:r>
          </a:p>
        </p:txBody>
      </p:sp>
      <p:sp>
        <p:nvSpPr>
          <p:cNvPr id="21" name="Rectangle 20"/>
          <p:cNvSpPr/>
          <p:nvPr/>
        </p:nvSpPr>
        <p:spPr>
          <a:xfrm>
            <a:off x="4426610" y="3822191"/>
            <a:ext cx="3338474" cy="1627632"/>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Rectangle 21"/>
          <p:cNvSpPr/>
          <p:nvPr/>
        </p:nvSpPr>
        <p:spPr>
          <a:xfrm>
            <a:off x="4682642" y="4059935"/>
            <a:ext cx="365760" cy="292608"/>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800"/>
              </a:lnSpc>
              <a:spcBef>
                <a:spcPts val="0"/>
              </a:spcBef>
              <a:spcAft>
                <a:spcPts val="0"/>
              </a:spcAft>
            </a:pPr>
            <a:r>
              <a:rPr sz="1500" b="1" i="0">
                <a:solidFill>
                  <a:srgbClr val="313A44"/>
                </a:solidFill>
                <a:latin typeface="Georgia"/>
              </a:rPr>
              <a:t>5</a:t>
            </a:r>
          </a:p>
        </p:txBody>
      </p:sp>
      <p:sp>
        <p:nvSpPr>
          <p:cNvPr id="23" name="TextBox 22"/>
          <p:cNvSpPr txBox="1"/>
          <p:nvPr/>
        </p:nvSpPr>
        <p:spPr>
          <a:xfrm>
            <a:off x="5158130" y="4041648"/>
            <a:ext cx="2350922" cy="512064"/>
          </a:xfrm>
          <a:prstGeom prst="rect">
            <a:avLst/>
          </a:prstGeom>
          <a:noFill/>
        </p:spPr>
        <p:txBody>
          <a:bodyPr wrap="square" anchor="t" lIns="0" tIns="0" rIns="0" bIns="0">
            <a:noAutofit/>
          </a:bodyPr>
          <a:lstStyle/>
          <a:p>
            <a:pPr algn="l">
              <a:lnSpc>
                <a:spcPts val="1650"/>
              </a:lnSpc>
              <a:spcBef>
                <a:spcPts val="0"/>
              </a:spcBef>
              <a:spcAft>
                <a:spcPts val="0"/>
              </a:spcAft>
            </a:pPr>
            <a:r>
              <a:rPr sz="1500" b="1" i="0">
                <a:solidFill>
                  <a:srgbClr val="313A44"/>
                </a:solidFill>
                <a:latin typeface="Georgia"/>
              </a:rPr>
              <a:t>16 rules run as you type</a:t>
            </a:r>
          </a:p>
        </p:txBody>
      </p:sp>
      <p:sp>
        <p:nvSpPr>
          <p:cNvPr id="24" name="TextBox 23"/>
          <p:cNvSpPr txBox="1"/>
          <p:nvPr/>
        </p:nvSpPr>
        <p:spPr>
          <a:xfrm>
            <a:off x="4682642" y="4608576"/>
            <a:ext cx="2826410" cy="749808"/>
          </a:xfrm>
          <a:prstGeom prst="rect">
            <a:avLst/>
          </a:prstGeom>
          <a:noFill/>
        </p:spPr>
        <p:txBody>
          <a:bodyPr wrap="square" anchor="t" lIns="0" tIns="0" rIns="0" bIns="0">
            <a:noAutofit/>
          </a:bodyPr>
          <a:lstStyle/>
          <a:p>
            <a:pPr algn="l">
              <a:lnSpc>
                <a:spcPts val="1490"/>
              </a:lnSpc>
              <a:spcBef>
                <a:spcPts val="0"/>
              </a:spcBef>
              <a:spcAft>
                <a:spcPts val="0"/>
              </a:spcAft>
            </a:pPr>
            <a:r>
              <a:rPr sz="1200" b="0" i="0">
                <a:solidFill>
                  <a:srgbClr val="4A535E"/>
                </a:solidFill>
                <a:latin typeface="Segoe UI"/>
              </a:rPr>
              <a:t>Each citing the document it came from. Where sources disagree, it says so.</a:t>
            </a:r>
          </a:p>
        </p:txBody>
      </p:sp>
      <p:sp>
        <p:nvSpPr>
          <p:cNvPr id="25" name="Rectangle 24"/>
          <p:cNvSpPr/>
          <p:nvPr/>
        </p:nvSpPr>
        <p:spPr>
          <a:xfrm>
            <a:off x="8075980" y="3822191"/>
            <a:ext cx="3338474" cy="1627632"/>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ectangle 25"/>
          <p:cNvSpPr/>
          <p:nvPr/>
        </p:nvSpPr>
        <p:spPr>
          <a:xfrm>
            <a:off x="8332012" y="4059935"/>
            <a:ext cx="365760" cy="292608"/>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800"/>
              </a:lnSpc>
              <a:spcBef>
                <a:spcPts val="0"/>
              </a:spcBef>
              <a:spcAft>
                <a:spcPts val="0"/>
              </a:spcAft>
            </a:pPr>
            <a:r>
              <a:rPr sz="1500" b="1" i="0">
                <a:solidFill>
                  <a:srgbClr val="313A44"/>
                </a:solidFill>
                <a:latin typeface="Georgia"/>
              </a:rPr>
              <a:t>6</a:t>
            </a:r>
          </a:p>
        </p:txBody>
      </p:sp>
      <p:sp>
        <p:nvSpPr>
          <p:cNvPr id="27" name="TextBox 26"/>
          <p:cNvSpPr txBox="1"/>
          <p:nvPr/>
        </p:nvSpPr>
        <p:spPr>
          <a:xfrm>
            <a:off x="8807500" y="4041648"/>
            <a:ext cx="2350922" cy="512064"/>
          </a:xfrm>
          <a:prstGeom prst="rect">
            <a:avLst/>
          </a:prstGeom>
          <a:noFill/>
        </p:spPr>
        <p:txBody>
          <a:bodyPr wrap="square" anchor="t" lIns="0" tIns="0" rIns="0" bIns="0">
            <a:noAutofit/>
          </a:bodyPr>
          <a:lstStyle/>
          <a:p>
            <a:pPr algn="l">
              <a:lnSpc>
                <a:spcPts val="1650"/>
              </a:lnSpc>
              <a:spcBef>
                <a:spcPts val="0"/>
              </a:spcBef>
              <a:spcAft>
                <a:spcPts val="0"/>
              </a:spcAft>
            </a:pPr>
            <a:r>
              <a:rPr sz="1500" b="1" i="0">
                <a:solidFill>
                  <a:srgbClr val="313A44"/>
                </a:solidFill>
                <a:latin typeface="Georgia"/>
              </a:rPr>
              <a:t>Export the Working List</a:t>
            </a:r>
          </a:p>
        </p:txBody>
      </p:sp>
      <p:sp>
        <p:nvSpPr>
          <p:cNvPr id="28" name="TextBox 27"/>
          <p:cNvSpPr txBox="1"/>
          <p:nvPr/>
        </p:nvSpPr>
        <p:spPr>
          <a:xfrm>
            <a:off x="8332012" y="4608576"/>
            <a:ext cx="2826410" cy="749808"/>
          </a:xfrm>
          <a:prstGeom prst="rect">
            <a:avLst/>
          </a:prstGeom>
          <a:noFill/>
        </p:spPr>
        <p:txBody>
          <a:bodyPr wrap="square" anchor="t" lIns="0" tIns="0" rIns="0" bIns="0">
            <a:noAutofit/>
          </a:bodyPr>
          <a:lstStyle/>
          <a:p>
            <a:pPr algn="l">
              <a:lnSpc>
                <a:spcPts val="1490"/>
              </a:lnSpc>
              <a:spcBef>
                <a:spcPts val="0"/>
              </a:spcBef>
              <a:spcAft>
                <a:spcPts val="0"/>
              </a:spcAft>
            </a:pPr>
            <a:r>
              <a:rPr sz="1200" b="0" i="0">
                <a:solidFill>
                  <a:srgbClr val="4A535E"/>
                </a:solidFill>
                <a:latin typeface="Segoe UI"/>
              </a:rPr>
              <a:t>One workbook for accounting, in the format the process already consumes.</a:t>
            </a:r>
          </a:p>
        </p:txBody>
      </p:sp>
      <p:sp>
        <p:nvSpPr>
          <p:cNvPr id="29" name="Rectangle 28"/>
          <p:cNvSpPr/>
          <p:nvPr/>
        </p:nvSpPr>
        <p:spPr>
          <a:xfrm>
            <a:off x="777240" y="5614416"/>
            <a:ext cx="10637215" cy="566928"/>
          </a:xfrm>
          <a:prstGeom prst="rect">
            <a:avLst/>
          </a:prstGeom>
          <a:solidFill>
            <a:srgbClr val="313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a:noAutofit/>
          </a:bodyPr>
          <a:lstStyle/>
          <a:p>
            <a:pPr algn="l">
              <a:lnSpc>
                <a:spcPts val="1620"/>
              </a:lnSpc>
              <a:spcBef>
                <a:spcPts val="0"/>
              </a:spcBef>
              <a:spcAft>
                <a:spcPts val="0"/>
              </a:spcAft>
            </a:pPr>
            <a:r>
              <a:rPr sz="1350" b="0" i="0">
                <a:solidFill>
                  <a:srgbClr val="ECEAE4"/>
                </a:solidFill>
                <a:latin typeface="Segoe UI"/>
              </a:rPr>
              <a:t>Nothing is sent automatically. The tool produces a file and an audit record — a human still hands it off.</a:t>
            </a:r>
          </a:p>
        </p:txBody>
      </p:sp>
      <p:sp>
        <p:nvSpPr>
          <p:cNvPr id="30" name="TextBox 29"/>
          <p:cNvSpPr txBox="1"/>
          <p:nvPr/>
        </p:nvSpPr>
        <p:spPr>
          <a:xfrm>
            <a:off x="777240" y="6382512"/>
            <a:ext cx="10637215" cy="274320"/>
          </a:xfrm>
          <a:prstGeom prst="rect">
            <a:avLst/>
          </a:prstGeom>
          <a:noFill/>
        </p:spPr>
        <p:txBody>
          <a:bodyPr wrap="square" anchor="t" lIns="0" tIns="0" rIns="0" bIns="0">
            <a:noAutofit/>
          </a:bodyPr>
          <a:lstStyle/>
          <a:p>
            <a:pPr algn="l">
              <a:lnSpc>
                <a:spcPts val="1080"/>
              </a:lnSpc>
              <a:spcBef>
                <a:spcPts val="0"/>
              </a:spcBef>
              <a:spcAft>
                <a:spcPts val="0"/>
              </a:spcAft>
            </a:pPr>
            <a:r>
              <a:rPr sz="900" b="0" i="0" spc="60">
                <a:solidFill>
                  <a:srgbClr val="7A8290"/>
                </a:solidFill>
                <a:latin typeface="Segoe UI"/>
              </a:rPr>
              <a:t>Reclass Intake  ·  Casey Dobrowolski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313A44"/>
        </a:solidFill>
        <a:effectLst/>
      </p:bgPr>
    </p:bg>
    <p:spTree>
      <p:nvGrpSpPr>
        <p:cNvPr id="1" name=""/>
        <p:cNvGrpSpPr/>
        <p:nvPr/>
      </p:nvGrpSpPr>
      <p:grpSpPr/>
      <p:sp>
        <p:nvSpPr>
          <p:cNvPr id="2" name="Title 1"/>
          <p:cNvSpPr>
            <a:spLocks noGrp="1"/>
          </p:cNvSpPr>
          <p:nvPr>
            <p:ph type="title"/>
          </p:nvPr>
        </p:nvSpPr>
        <p:spPr>
          <a:xfrm>
            <a:off x="777240" y="786384"/>
            <a:ext cx="10637215" cy="713232"/>
          </a:xfrm>
        </p:spPr>
        <p:txBody>
          <a:bodyPr wrap="square" anchor="t" lIns="0" rIns="0" tIns="0" bIns="0">
            <a:noAutofit/>
          </a:bodyPr>
          <a:lstStyle/>
          <a:p>
            <a:pPr algn="l">
              <a:lnSpc>
                <a:spcPts val="3360"/>
              </a:lnSpc>
            </a:pPr>
            <a:r>
              <a:rPr sz="3000" b="1" spc="-20">
                <a:solidFill>
                  <a:srgbClr val="F5F3ED"/>
                </a:solidFill>
                <a:latin typeface="Georgia"/>
              </a:rPr>
              <a:t>You can't pick an invalid cost center.</a:t>
            </a:r>
          </a:p>
        </p:txBody>
      </p:sp>
      <p:sp>
        <p:nvSpPr>
          <p:cNvPr id="3" name="TextBox 2"/>
          <p:cNvSpPr txBox="1"/>
          <p:nvPr/>
        </p:nvSpPr>
        <p:spPr>
          <a:xfrm>
            <a:off x="777240" y="475488"/>
            <a:ext cx="10637215" cy="256032"/>
          </a:xfrm>
          <a:prstGeom prst="rect">
            <a:avLst/>
          </a:prstGeom>
          <a:noFill/>
        </p:spPr>
        <p:txBody>
          <a:bodyPr wrap="square" anchor="t" lIns="0" tIns="0" rIns="0" bIns="0">
            <a:noAutofit/>
          </a:bodyPr>
          <a:lstStyle/>
          <a:p>
            <a:pPr algn="l">
              <a:lnSpc>
                <a:spcPts val="1260"/>
              </a:lnSpc>
              <a:spcBef>
                <a:spcPts val="0"/>
              </a:spcBef>
              <a:spcAft>
                <a:spcPts val="0"/>
              </a:spcAft>
            </a:pPr>
            <a:r>
              <a:rPr sz="1050" b="1" i="0" spc="140">
                <a:solidFill>
                  <a:srgbClr val="A8B0BA"/>
                </a:solidFill>
                <a:latin typeface="Segoe UI"/>
              </a:rPr>
              <a:t>THE ONE THING TO REMEMBER</a:t>
            </a:r>
          </a:p>
        </p:txBody>
      </p:sp>
      <p:sp>
        <p:nvSpPr>
          <p:cNvPr id="4" name="Rectangle 3"/>
          <p:cNvSpPr/>
          <p:nvPr/>
        </p:nvSpPr>
        <p:spPr>
          <a:xfrm>
            <a:off x="777240" y="1591056"/>
            <a:ext cx="1051560"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777240" y="1810512"/>
            <a:ext cx="8046720" cy="384048"/>
          </a:xfrm>
          <a:prstGeom prst="rect">
            <a:avLst/>
          </a:prstGeom>
          <a:noFill/>
        </p:spPr>
        <p:txBody>
          <a:bodyPr wrap="square" anchor="t" lIns="0" tIns="0" rIns="0" bIns="0">
            <a:noAutofit/>
          </a:bodyPr>
          <a:lstStyle/>
          <a:p>
            <a:pPr algn="l">
              <a:lnSpc>
                <a:spcPts val="1920"/>
              </a:lnSpc>
              <a:spcBef>
                <a:spcPts val="0"/>
              </a:spcBef>
              <a:spcAft>
                <a:spcPts val="0"/>
              </a:spcAft>
            </a:pPr>
            <a:r>
              <a:rPr sz="1600" b="0" i="1">
                <a:solidFill>
                  <a:srgbClr val="A8B0BA"/>
                </a:solidFill>
                <a:latin typeface="Georgia"/>
              </a:rPr>
              <a:t>Because it isn't selectable — and it's still shown, so you learn why.</a:t>
            </a:r>
          </a:p>
        </p:txBody>
      </p:sp>
      <p:sp>
        <p:nvSpPr>
          <p:cNvPr id="6" name="Rectangle 5"/>
          <p:cNvSpPr/>
          <p:nvPr/>
        </p:nvSpPr>
        <p:spPr>
          <a:xfrm>
            <a:off x="777240" y="2395728"/>
            <a:ext cx="5074920" cy="2907792"/>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1033271" y="2596896"/>
            <a:ext cx="4562856" cy="256032"/>
          </a:xfrm>
          <a:prstGeom prst="rect">
            <a:avLst/>
          </a:prstGeom>
          <a:noFill/>
        </p:spPr>
        <p:txBody>
          <a:bodyPr wrap="square" anchor="t" lIns="0" tIns="0" rIns="0" bIns="0">
            <a:noAutofit/>
          </a:bodyPr>
          <a:lstStyle/>
          <a:p>
            <a:pPr algn="l">
              <a:lnSpc>
                <a:spcPts val="1140"/>
              </a:lnSpc>
              <a:spcBef>
                <a:spcPts val="0"/>
              </a:spcBef>
              <a:spcAft>
                <a:spcPts val="0"/>
              </a:spcAft>
            </a:pPr>
            <a:r>
              <a:rPr sz="950" b="1" i="0" spc="140">
                <a:solidFill>
                  <a:srgbClr val="7A8290"/>
                </a:solidFill>
                <a:latin typeface="Segoe UI"/>
              </a:rPr>
              <a:t>NEW COST CENTER</a:t>
            </a:r>
          </a:p>
        </p:txBody>
      </p:sp>
      <p:sp>
        <p:nvSpPr>
          <p:cNvPr id="8" name="TextBox 7"/>
          <p:cNvSpPr txBox="1"/>
          <p:nvPr/>
        </p:nvSpPr>
        <p:spPr>
          <a:xfrm>
            <a:off x="1051560" y="2999232"/>
            <a:ext cx="914400" cy="329184"/>
          </a:xfrm>
          <a:prstGeom prst="rect">
            <a:avLst/>
          </a:prstGeom>
          <a:noFill/>
        </p:spPr>
        <p:txBody>
          <a:bodyPr wrap="square" anchor="t" lIns="0" tIns="0" rIns="0" bIns="0">
            <a:noAutofit/>
          </a:bodyPr>
          <a:lstStyle/>
          <a:p>
            <a:pPr algn="l">
              <a:lnSpc>
                <a:spcPts val="1739"/>
              </a:lnSpc>
              <a:spcBef>
                <a:spcPts val="0"/>
              </a:spcBef>
              <a:spcAft>
                <a:spcPts val="0"/>
              </a:spcAft>
            </a:pPr>
            <a:r>
              <a:rPr sz="1450" b="0" i="0">
                <a:solidFill>
                  <a:srgbClr val="313A44"/>
                </a:solidFill>
                <a:latin typeface="Consolas"/>
              </a:rPr>
              <a:t>10420</a:t>
            </a:r>
          </a:p>
        </p:txBody>
      </p:sp>
      <p:sp>
        <p:nvSpPr>
          <p:cNvPr id="9" name="TextBox 8"/>
          <p:cNvSpPr txBox="1"/>
          <p:nvPr/>
        </p:nvSpPr>
        <p:spPr>
          <a:xfrm>
            <a:off x="2039112" y="3008376"/>
            <a:ext cx="3557015" cy="329184"/>
          </a:xfrm>
          <a:prstGeom prst="rect">
            <a:avLst/>
          </a:prstGeom>
          <a:noFill/>
        </p:spPr>
        <p:txBody>
          <a:bodyPr wrap="square" anchor="t" lIns="0" tIns="0" rIns="0" bIns="0">
            <a:noAutofit/>
          </a:bodyPr>
          <a:lstStyle/>
          <a:p>
            <a:pPr algn="l">
              <a:lnSpc>
                <a:spcPts val="1680"/>
              </a:lnSpc>
              <a:spcBef>
                <a:spcPts val="0"/>
              </a:spcBef>
              <a:spcAft>
                <a:spcPts val="0"/>
              </a:spcAft>
            </a:pPr>
            <a:r>
              <a:rPr sz="1400" b="0" i="0">
                <a:solidFill>
                  <a:srgbClr val="4A535E"/>
                </a:solidFill>
                <a:latin typeface="Segoe UI"/>
              </a:rPr>
              <a:t>Enterprise Business Intelligence</a:t>
            </a:r>
          </a:p>
        </p:txBody>
      </p:sp>
      <p:sp>
        <p:nvSpPr>
          <p:cNvPr id="10" name="TextBox 9"/>
          <p:cNvSpPr txBox="1"/>
          <p:nvPr/>
        </p:nvSpPr>
        <p:spPr>
          <a:xfrm>
            <a:off x="1051560" y="3529584"/>
            <a:ext cx="914400" cy="329184"/>
          </a:xfrm>
          <a:prstGeom prst="rect">
            <a:avLst/>
          </a:prstGeom>
          <a:noFill/>
        </p:spPr>
        <p:txBody>
          <a:bodyPr wrap="square" anchor="t" lIns="0" tIns="0" rIns="0" bIns="0">
            <a:noAutofit/>
          </a:bodyPr>
          <a:lstStyle/>
          <a:p>
            <a:pPr algn="l">
              <a:lnSpc>
                <a:spcPts val="1739"/>
              </a:lnSpc>
              <a:spcBef>
                <a:spcPts val="0"/>
              </a:spcBef>
              <a:spcAft>
                <a:spcPts val="0"/>
              </a:spcAft>
            </a:pPr>
            <a:r>
              <a:rPr sz="1450" b="0" i="0">
                <a:solidFill>
                  <a:srgbClr val="313A44"/>
                </a:solidFill>
                <a:latin typeface="Consolas"/>
              </a:rPr>
              <a:t>10530</a:t>
            </a:r>
          </a:p>
        </p:txBody>
      </p:sp>
      <p:sp>
        <p:nvSpPr>
          <p:cNvPr id="11" name="TextBox 10"/>
          <p:cNvSpPr txBox="1"/>
          <p:nvPr/>
        </p:nvSpPr>
        <p:spPr>
          <a:xfrm>
            <a:off x="2039112" y="3538728"/>
            <a:ext cx="3557015" cy="329184"/>
          </a:xfrm>
          <a:prstGeom prst="rect">
            <a:avLst/>
          </a:prstGeom>
          <a:noFill/>
        </p:spPr>
        <p:txBody>
          <a:bodyPr wrap="square" anchor="t" lIns="0" tIns="0" rIns="0" bIns="0">
            <a:noAutofit/>
          </a:bodyPr>
          <a:lstStyle/>
          <a:p>
            <a:pPr algn="l">
              <a:lnSpc>
                <a:spcPts val="1680"/>
              </a:lnSpc>
              <a:spcBef>
                <a:spcPts val="0"/>
              </a:spcBef>
              <a:spcAft>
                <a:spcPts val="0"/>
              </a:spcAft>
            </a:pPr>
            <a:r>
              <a:rPr sz="1400" b="0" i="0">
                <a:solidFill>
                  <a:srgbClr val="4A535E"/>
                </a:solidFill>
                <a:latin typeface="Segoe UI"/>
              </a:rPr>
              <a:t>Central Finance</a:t>
            </a:r>
          </a:p>
        </p:txBody>
      </p:sp>
      <p:sp>
        <p:nvSpPr>
          <p:cNvPr id="12" name="TextBox 11"/>
          <p:cNvSpPr txBox="1"/>
          <p:nvPr/>
        </p:nvSpPr>
        <p:spPr>
          <a:xfrm>
            <a:off x="1051560" y="4059936"/>
            <a:ext cx="914400" cy="329184"/>
          </a:xfrm>
          <a:prstGeom prst="rect">
            <a:avLst/>
          </a:prstGeom>
          <a:noFill/>
        </p:spPr>
        <p:txBody>
          <a:bodyPr wrap="square" anchor="t" lIns="0" tIns="0" rIns="0" bIns="0">
            <a:noAutofit/>
          </a:bodyPr>
          <a:lstStyle/>
          <a:p>
            <a:pPr algn="l">
              <a:lnSpc>
                <a:spcPts val="1739"/>
              </a:lnSpc>
              <a:spcBef>
                <a:spcPts val="0"/>
              </a:spcBef>
              <a:spcAft>
                <a:spcPts val="0"/>
              </a:spcAft>
            </a:pPr>
            <a:r>
              <a:rPr sz="1450" b="0" i="0">
                <a:solidFill>
                  <a:srgbClr val="313A44"/>
                </a:solidFill>
                <a:latin typeface="Consolas"/>
              </a:rPr>
              <a:t>12300</a:t>
            </a:r>
          </a:p>
        </p:txBody>
      </p:sp>
      <p:sp>
        <p:nvSpPr>
          <p:cNvPr id="13" name="TextBox 12"/>
          <p:cNvSpPr txBox="1"/>
          <p:nvPr/>
        </p:nvSpPr>
        <p:spPr>
          <a:xfrm>
            <a:off x="2039112" y="4069080"/>
            <a:ext cx="3557015" cy="329184"/>
          </a:xfrm>
          <a:prstGeom prst="rect">
            <a:avLst/>
          </a:prstGeom>
          <a:noFill/>
        </p:spPr>
        <p:txBody>
          <a:bodyPr wrap="square" anchor="t" lIns="0" tIns="0" rIns="0" bIns="0">
            <a:noAutofit/>
          </a:bodyPr>
          <a:lstStyle/>
          <a:p>
            <a:pPr algn="l">
              <a:lnSpc>
                <a:spcPts val="1680"/>
              </a:lnSpc>
              <a:spcBef>
                <a:spcPts val="0"/>
              </a:spcBef>
              <a:spcAft>
                <a:spcPts val="0"/>
              </a:spcAft>
            </a:pPr>
            <a:r>
              <a:rPr sz="1400" b="0" i="0">
                <a:solidFill>
                  <a:srgbClr val="4A535E"/>
                </a:solidFill>
                <a:latin typeface="Segoe UI"/>
              </a:rPr>
              <a:t>Global Health Program Services</a:t>
            </a:r>
          </a:p>
        </p:txBody>
      </p:sp>
      <p:sp>
        <p:nvSpPr>
          <p:cNvPr id="14" name="Rectangle 13"/>
          <p:cNvSpPr/>
          <p:nvPr/>
        </p:nvSpPr>
        <p:spPr>
          <a:xfrm>
            <a:off x="905256" y="4517136"/>
            <a:ext cx="4818888" cy="493776"/>
          </a:xfrm>
          <a:prstGeom prst="rect">
            <a:avLst/>
          </a:prstGeom>
          <a:solidFill>
            <a:srgbClr val="F0EF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1051560" y="4590288"/>
            <a:ext cx="914400" cy="329184"/>
          </a:xfrm>
          <a:prstGeom prst="rect">
            <a:avLst/>
          </a:prstGeom>
          <a:noFill/>
        </p:spPr>
        <p:txBody>
          <a:bodyPr wrap="square" anchor="t" lIns="0" tIns="0" rIns="0" bIns="0">
            <a:noAutofit/>
          </a:bodyPr>
          <a:lstStyle/>
          <a:p>
            <a:pPr algn="l">
              <a:lnSpc>
                <a:spcPts val="1739"/>
              </a:lnSpc>
              <a:spcBef>
                <a:spcPts val="0"/>
              </a:spcBef>
              <a:spcAft>
                <a:spcPts val="0"/>
              </a:spcAft>
            </a:pPr>
            <a:r>
              <a:rPr sz="1450" b="0" i="0" strike="sngStrike">
                <a:solidFill>
                  <a:srgbClr val="8A9099"/>
                </a:solidFill>
                <a:latin typeface="Consolas"/>
              </a:rPr>
              <a:t>40005</a:t>
            </a:r>
          </a:p>
        </p:txBody>
      </p:sp>
      <p:sp>
        <p:nvSpPr>
          <p:cNvPr id="16" name="TextBox 15"/>
          <p:cNvSpPr txBox="1"/>
          <p:nvPr/>
        </p:nvSpPr>
        <p:spPr>
          <a:xfrm>
            <a:off x="2039112" y="4599432"/>
            <a:ext cx="3557015" cy="329184"/>
          </a:xfrm>
          <a:prstGeom prst="rect">
            <a:avLst/>
          </a:prstGeom>
          <a:noFill/>
        </p:spPr>
        <p:txBody>
          <a:bodyPr wrap="square" anchor="t" lIns="0" tIns="0" rIns="0" bIns="0">
            <a:noAutofit/>
          </a:bodyPr>
          <a:lstStyle/>
          <a:p>
            <a:pPr algn="l">
              <a:lnSpc>
                <a:spcPts val="1680"/>
              </a:lnSpc>
              <a:spcBef>
                <a:spcPts val="0"/>
              </a:spcBef>
              <a:spcAft>
                <a:spcPts val="0"/>
              </a:spcAft>
            </a:pPr>
            <a:r>
              <a:rPr sz="1400" b="0" i="0" strike="sngStrike">
                <a:solidFill>
                  <a:srgbClr val="8A9099"/>
                </a:solidFill>
                <a:latin typeface="Segoe UI"/>
              </a:rPr>
              <a:t>(aggregation-only rollup node)</a:t>
            </a:r>
          </a:p>
        </p:txBody>
      </p:sp>
      <p:sp>
        <p:nvSpPr>
          <p:cNvPr id="17" name="Rectangle 16"/>
          <p:cNvSpPr/>
          <p:nvPr/>
        </p:nvSpPr>
        <p:spPr>
          <a:xfrm>
            <a:off x="6492240" y="2395728"/>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92240" y="2688336"/>
            <a:ext cx="4922215" cy="402336"/>
          </a:xfrm>
          <a:prstGeom prst="rect">
            <a:avLst/>
          </a:prstGeom>
          <a:noFill/>
        </p:spPr>
        <p:txBody>
          <a:bodyPr wrap="square" anchor="t" lIns="0" tIns="0" rIns="0" bIns="0">
            <a:noAutofit/>
          </a:bodyPr>
          <a:lstStyle/>
          <a:p>
            <a:pPr algn="l">
              <a:lnSpc>
                <a:spcPts val="2520"/>
              </a:lnSpc>
              <a:spcBef>
                <a:spcPts val="0"/>
              </a:spcBef>
              <a:spcAft>
                <a:spcPts val="0"/>
              </a:spcAft>
            </a:pPr>
            <a:r>
              <a:rPr sz="2100" b="1" i="0">
                <a:solidFill>
                  <a:srgbClr val="F5F3ED"/>
                </a:solidFill>
                <a:latin typeface="Georgia"/>
              </a:rPr>
              <a:t>40005 looks real.</a:t>
            </a:r>
          </a:p>
        </p:txBody>
      </p:sp>
      <p:sp>
        <p:nvSpPr>
          <p:cNvPr id="19" name="TextBox 18"/>
          <p:cNvSpPr txBox="1"/>
          <p:nvPr/>
        </p:nvSpPr>
        <p:spPr>
          <a:xfrm>
            <a:off x="6492240" y="3145536"/>
            <a:ext cx="4922215" cy="914400"/>
          </a:xfrm>
          <a:prstGeom prst="rect">
            <a:avLst/>
          </a:prstGeom>
          <a:noFill/>
        </p:spPr>
        <p:txBody>
          <a:bodyPr wrap="square" anchor="t" lIns="0" tIns="0" rIns="0" bIns="0">
            <a:noAutofit/>
          </a:bodyPr>
          <a:lstStyle/>
          <a:p>
            <a:pPr algn="l">
              <a:lnSpc>
                <a:spcPts val="1789"/>
              </a:lnSpc>
              <a:spcBef>
                <a:spcPts val="0"/>
              </a:spcBef>
              <a:spcAft>
                <a:spcPts val="0"/>
              </a:spcAft>
            </a:pPr>
            <a:r>
              <a:rPr sz="1400" b="0" i="0">
                <a:solidFill>
                  <a:srgbClr val="ECEAE4"/>
                </a:solidFill>
                <a:latin typeface="Segoe UI"/>
              </a:rPr>
              <a:t>It's an aggregation-only rollup node. No dollars are ever coded to it, so a reclass targeting it can never post.</a:t>
            </a:r>
          </a:p>
        </p:txBody>
      </p:sp>
      <p:sp>
        <p:nvSpPr>
          <p:cNvPr id="20" name="Rectangle 19"/>
          <p:cNvSpPr/>
          <p:nvPr/>
        </p:nvSpPr>
        <p:spPr>
          <a:xfrm>
            <a:off x="6492240" y="4133087"/>
            <a:ext cx="2377440" cy="18288"/>
          </a:xfrm>
          <a:prstGeom prst="rect">
            <a:avLst/>
          </a:prstGeom>
          <a:solidFill>
            <a:srgbClr val="555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6492240" y="4352544"/>
            <a:ext cx="4922215" cy="402336"/>
          </a:xfrm>
          <a:prstGeom prst="rect">
            <a:avLst/>
          </a:prstGeom>
          <a:noFill/>
        </p:spPr>
        <p:txBody>
          <a:bodyPr wrap="square" anchor="t" lIns="0" tIns="0" rIns="0" bIns="0">
            <a:noAutofit/>
          </a:bodyPr>
          <a:lstStyle/>
          <a:p>
            <a:pPr algn="l">
              <a:lnSpc>
                <a:spcPts val="2520"/>
              </a:lnSpc>
              <a:spcBef>
                <a:spcPts val="0"/>
              </a:spcBef>
              <a:spcAft>
                <a:spcPts val="0"/>
              </a:spcAft>
            </a:pPr>
            <a:r>
              <a:rPr sz="2100" b="1" i="0">
                <a:solidFill>
                  <a:srgbClr val="F5F3ED"/>
                </a:solidFill>
                <a:latin typeface="Georgia"/>
              </a:rPr>
              <a:t>Shown, not hidden.</a:t>
            </a:r>
          </a:p>
        </p:txBody>
      </p:sp>
      <p:sp>
        <p:nvSpPr>
          <p:cNvPr id="22" name="TextBox 21"/>
          <p:cNvSpPr txBox="1"/>
          <p:nvPr/>
        </p:nvSpPr>
        <p:spPr>
          <a:xfrm>
            <a:off x="6492240" y="4809744"/>
            <a:ext cx="4922215" cy="731520"/>
          </a:xfrm>
          <a:prstGeom prst="rect">
            <a:avLst/>
          </a:prstGeom>
          <a:noFill/>
        </p:spPr>
        <p:txBody>
          <a:bodyPr wrap="square" anchor="t" lIns="0" tIns="0" rIns="0" bIns="0">
            <a:noAutofit/>
          </a:bodyPr>
          <a:lstStyle/>
          <a:p>
            <a:pPr algn="l">
              <a:lnSpc>
                <a:spcPts val="1789"/>
              </a:lnSpc>
              <a:spcBef>
                <a:spcPts val="0"/>
              </a:spcBef>
              <a:spcAft>
                <a:spcPts val="0"/>
              </a:spcAft>
            </a:pPr>
            <a:r>
              <a:rPr sz="1400" b="0" i="0">
                <a:solidFill>
                  <a:srgbClr val="ECEAE4"/>
                </a:solidFill>
                <a:latin typeface="Segoe UI"/>
              </a:rPr>
              <a:t>A requester who expected to find it learns why it isn't available. Hiding it would teach nothing.</a:t>
            </a:r>
          </a:p>
        </p:txBody>
      </p:sp>
      <p:sp>
        <p:nvSpPr>
          <p:cNvPr id="23" name="TextBox 22"/>
          <p:cNvSpPr txBox="1"/>
          <p:nvPr/>
        </p:nvSpPr>
        <p:spPr>
          <a:xfrm>
            <a:off x="777240" y="5650992"/>
            <a:ext cx="10637215" cy="530352"/>
          </a:xfrm>
          <a:prstGeom prst="rect">
            <a:avLst/>
          </a:prstGeom>
          <a:noFill/>
        </p:spPr>
        <p:txBody>
          <a:bodyPr wrap="square" anchor="t" lIns="0" tIns="0" rIns="0" bIns="0">
            <a:noAutofit/>
          </a:bodyPr>
          <a:lstStyle/>
          <a:p>
            <a:pPr algn="l">
              <a:lnSpc>
                <a:spcPts val="1500"/>
              </a:lnSpc>
              <a:spcBef>
                <a:spcPts val="0"/>
              </a:spcBef>
              <a:spcAft>
                <a:spcPts val="0"/>
              </a:spcAft>
            </a:pPr>
            <a:r>
              <a:rPr sz="1250" b="0" i="0">
                <a:solidFill>
                  <a:srgbClr val="A8B0BA"/>
                </a:solidFill>
                <a:latin typeface="Segoe UI"/>
              </a:rPr>
              <a:t>Live data proved this out: the dimension query only returns cost centers that carry dollars, so 40005 never came back at all. Marking only what returned would have silently dropped it.</a:t>
            </a:r>
          </a:p>
        </p:txBody>
      </p:sp>
      <p:sp>
        <p:nvSpPr>
          <p:cNvPr id="24" name="TextBox 23"/>
          <p:cNvSpPr txBox="1"/>
          <p:nvPr/>
        </p:nvSpPr>
        <p:spPr>
          <a:xfrm>
            <a:off x="777240" y="6382512"/>
            <a:ext cx="10637215" cy="274320"/>
          </a:xfrm>
          <a:prstGeom prst="rect">
            <a:avLst/>
          </a:prstGeom>
          <a:noFill/>
        </p:spPr>
        <p:txBody>
          <a:bodyPr wrap="square" anchor="t" lIns="0" tIns="0" rIns="0" bIns="0">
            <a:noAutofit/>
          </a:bodyPr>
          <a:lstStyle/>
          <a:p>
            <a:pPr algn="l">
              <a:lnSpc>
                <a:spcPts val="1080"/>
              </a:lnSpc>
              <a:spcBef>
                <a:spcPts val="0"/>
              </a:spcBef>
              <a:spcAft>
                <a:spcPts val="0"/>
              </a:spcAft>
            </a:pPr>
            <a:r>
              <a:rPr sz="900" b="0" i="0" spc="60">
                <a:solidFill>
                  <a:srgbClr val="A8B0BA"/>
                </a:solidFill>
                <a:latin typeface="Segoe UI"/>
              </a:rPr>
              <a:t>Reclass Intake  ·  Casey Dobrowolski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itle 1"/>
          <p:cNvSpPr>
            <a:spLocks noGrp="1"/>
          </p:cNvSpPr>
          <p:nvPr>
            <p:ph type="title"/>
          </p:nvPr>
        </p:nvSpPr>
        <p:spPr>
          <a:xfrm>
            <a:off x="777240" y="786384"/>
            <a:ext cx="10637215" cy="713232"/>
          </a:xfrm>
        </p:spPr>
        <p:txBody>
          <a:bodyPr wrap="square" anchor="t" lIns="0" rIns="0" tIns="0" bIns="0">
            <a:noAutofit/>
          </a:bodyPr>
          <a:lstStyle/>
          <a:p>
            <a:pPr algn="l">
              <a:lnSpc>
                <a:spcPts val="3360"/>
              </a:lnSpc>
            </a:pPr>
            <a:r>
              <a:rPr sz="3000" b="1" spc="-20">
                <a:solidFill>
                  <a:srgbClr val="313A44"/>
                </a:solidFill>
                <a:latin typeface="Georgia"/>
              </a:rPr>
              <a:t>Two things the process asked for.</a:t>
            </a:r>
          </a:p>
        </p:txBody>
      </p:sp>
      <p:sp>
        <p:nvSpPr>
          <p:cNvPr id="3" name="TextBox 2"/>
          <p:cNvSpPr txBox="1"/>
          <p:nvPr/>
        </p:nvSpPr>
        <p:spPr>
          <a:xfrm>
            <a:off x="777240" y="475488"/>
            <a:ext cx="10637215" cy="256032"/>
          </a:xfrm>
          <a:prstGeom prst="rect">
            <a:avLst/>
          </a:prstGeom>
          <a:noFill/>
        </p:spPr>
        <p:txBody>
          <a:bodyPr wrap="square" anchor="t" lIns="0" tIns="0" rIns="0" bIns="0">
            <a:noAutofit/>
          </a:bodyPr>
          <a:lstStyle/>
          <a:p>
            <a:pPr algn="l">
              <a:lnSpc>
                <a:spcPts val="1260"/>
              </a:lnSpc>
              <a:spcBef>
                <a:spcPts val="0"/>
              </a:spcBef>
              <a:spcAft>
                <a:spcPts val="0"/>
              </a:spcAft>
            </a:pPr>
            <a:r>
              <a:rPr sz="1050" b="1" i="0" spc="140">
                <a:solidFill>
                  <a:srgbClr val="7A8290"/>
                </a:solidFill>
                <a:latin typeface="Segoe UI"/>
              </a:rPr>
              <a:t>TIMING, AND JUDGMENT</a:t>
            </a:r>
          </a:p>
        </p:txBody>
      </p:sp>
      <p:sp>
        <p:nvSpPr>
          <p:cNvPr id="4" name="Rectangle 3"/>
          <p:cNvSpPr/>
          <p:nvPr/>
        </p:nvSpPr>
        <p:spPr>
          <a:xfrm>
            <a:off x="777240" y="1591056"/>
            <a:ext cx="1051560"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ectangle 4"/>
          <p:cNvSpPr/>
          <p:nvPr/>
        </p:nvSpPr>
        <p:spPr>
          <a:xfrm>
            <a:off x="777240" y="1975104"/>
            <a:ext cx="5090007" cy="3822191"/>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ectangle 5"/>
          <p:cNvSpPr/>
          <p:nvPr/>
        </p:nvSpPr>
        <p:spPr>
          <a:xfrm>
            <a:off x="1051560" y="2212848"/>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1051560" y="2487168"/>
            <a:ext cx="4541367" cy="384048"/>
          </a:xfrm>
          <a:prstGeom prst="rect">
            <a:avLst/>
          </a:prstGeom>
          <a:noFill/>
        </p:spPr>
        <p:txBody>
          <a:bodyPr wrap="square" anchor="t" lIns="0" tIns="0" rIns="0" bIns="0">
            <a:noAutofit/>
          </a:bodyPr>
          <a:lstStyle/>
          <a:p>
            <a:pPr algn="l">
              <a:lnSpc>
                <a:spcPts val="2280"/>
              </a:lnSpc>
              <a:spcBef>
                <a:spcPts val="0"/>
              </a:spcBef>
              <a:spcAft>
                <a:spcPts val="0"/>
              </a:spcAft>
            </a:pPr>
            <a:r>
              <a:rPr sz="1900" b="1" i="0">
                <a:solidFill>
                  <a:srgbClr val="313A44"/>
                </a:solidFill>
                <a:latin typeface="Georgia"/>
              </a:rPr>
              <a:t>When will this land?</a:t>
            </a:r>
          </a:p>
        </p:txBody>
      </p:sp>
      <p:sp>
        <p:nvSpPr>
          <p:cNvPr id="8" name="TextBox 7"/>
          <p:cNvSpPr txBox="1"/>
          <p:nvPr/>
        </p:nvSpPr>
        <p:spPr>
          <a:xfrm>
            <a:off x="1051560" y="2926080"/>
            <a:ext cx="4541367" cy="292608"/>
          </a:xfrm>
          <a:prstGeom prst="rect">
            <a:avLst/>
          </a:prstGeom>
          <a:noFill/>
        </p:spPr>
        <p:txBody>
          <a:bodyPr wrap="square" anchor="t" lIns="0" tIns="0" rIns="0" bIns="0">
            <a:noAutofit/>
          </a:bodyPr>
          <a:lstStyle/>
          <a:p>
            <a:pPr algn="l">
              <a:lnSpc>
                <a:spcPts val="1560"/>
              </a:lnSpc>
              <a:spcBef>
                <a:spcPts val="0"/>
              </a:spcBef>
              <a:spcAft>
                <a:spcPts val="0"/>
              </a:spcAft>
            </a:pPr>
            <a:r>
              <a:rPr sz="1300" b="0" i="1">
                <a:solidFill>
                  <a:srgbClr val="7A8290"/>
                </a:solidFill>
                <a:latin typeface="Georgia"/>
              </a:rPr>
              <a:t>The form answers it at submission.</a:t>
            </a:r>
          </a:p>
        </p:txBody>
      </p:sp>
      <p:sp>
        <p:nvSpPr>
          <p:cNvPr id="9" name="Rectangle 8"/>
          <p:cNvSpPr/>
          <p:nvPr/>
        </p:nvSpPr>
        <p:spPr>
          <a:xfrm>
            <a:off x="1051560" y="3346704"/>
            <a:ext cx="4541367" cy="566928"/>
          </a:xfrm>
          <a:prstGeom prst="rect">
            <a:avLst/>
          </a:prstGeom>
          <a:solidFill>
            <a:srgbClr val="FB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1179576" y="3493008"/>
            <a:ext cx="4285335" cy="310896"/>
          </a:xfrm>
          <a:prstGeom prst="rect">
            <a:avLst/>
          </a:prstGeom>
          <a:noFill/>
        </p:spPr>
        <p:txBody>
          <a:bodyPr wrap="square" anchor="t" lIns="0" tIns="0" rIns="0" bIns="0">
            <a:noAutofit/>
          </a:bodyPr>
          <a:lstStyle/>
          <a:p>
            <a:pPr algn="l">
              <a:lnSpc>
                <a:spcPts val="1620"/>
              </a:lnSpc>
              <a:spcBef>
                <a:spcPts val="0"/>
              </a:spcBef>
              <a:spcAft>
                <a:spcPts val="0"/>
              </a:spcAft>
            </a:pPr>
            <a:r>
              <a:rPr sz="1350" b="1" i="0">
                <a:solidFill>
                  <a:srgbClr val="313A44"/>
                </a:solidFill>
                <a:latin typeface="Segoe UI"/>
              </a:rPr>
              <a:t>Processes Mon 31 Aug  ·  visible by Mon 14 Sep</a:t>
            </a:r>
          </a:p>
        </p:txBody>
      </p:sp>
      <p:sp>
        <p:nvSpPr>
          <p:cNvPr id="11" name="TextBox 10"/>
          <p:cNvSpPr txBox="1"/>
          <p:nvPr/>
        </p:nvSpPr>
        <p:spPr>
          <a:xfrm>
            <a:off x="1051560" y="4096512"/>
            <a:ext cx="4541367" cy="914400"/>
          </a:xfrm>
          <a:prstGeom prst="rect">
            <a:avLst/>
          </a:prstGeom>
          <a:noFill/>
        </p:spPr>
        <p:txBody>
          <a:bodyPr wrap="square" anchor="t" lIns="0" tIns="0" rIns="0" bIns="0">
            <a:noAutofit/>
          </a:bodyPr>
          <a:lstStyle/>
          <a:p>
            <a:pPr algn="l">
              <a:lnSpc>
                <a:spcPts val="1639"/>
              </a:lnSpc>
              <a:spcBef>
                <a:spcPts val="0"/>
              </a:spcBef>
              <a:spcAft>
                <a:spcPts val="0"/>
              </a:spcAft>
            </a:pPr>
            <a:r>
              <a:rPr sz="1300" b="0" i="0">
                <a:solidFill>
                  <a:srgbClr val="4A535E"/>
                </a:solidFill>
                <a:latin typeface="Segoe UI"/>
              </a:rPr>
              <a:t>Reclasses process on the last business day of the month and are visible downstream by the 10th business day of the next. Inside two business days of the cutoff, the form says so.</a:t>
            </a:r>
          </a:p>
        </p:txBody>
      </p:sp>
      <p:sp>
        <p:nvSpPr>
          <p:cNvPr id="12" name="Rectangle 11"/>
          <p:cNvSpPr/>
          <p:nvPr/>
        </p:nvSpPr>
        <p:spPr>
          <a:xfrm>
            <a:off x="1051560" y="5120640"/>
            <a:ext cx="4541367" cy="18288"/>
          </a:xfrm>
          <a:prstGeom prst="rect">
            <a:avLst/>
          </a:prstGeom>
          <a:solidFill>
            <a:srgbClr val="E2E0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051560" y="5230368"/>
            <a:ext cx="4541367" cy="475488"/>
          </a:xfrm>
          <a:prstGeom prst="rect">
            <a:avLst/>
          </a:prstGeom>
          <a:noFill/>
        </p:spPr>
        <p:txBody>
          <a:bodyPr wrap="square" anchor="t" lIns="0" tIns="0" rIns="0" bIns="0">
            <a:noAutofit/>
          </a:bodyPr>
          <a:lstStyle/>
          <a:p>
            <a:pPr algn="l">
              <a:lnSpc>
                <a:spcPts val="1430"/>
              </a:lnSpc>
              <a:spcBef>
                <a:spcPts val="0"/>
              </a:spcBef>
              <a:spcAft>
                <a:spcPts val="0"/>
              </a:spcAft>
            </a:pPr>
            <a:r>
              <a:rPr sz="1150" b="0" i="1">
                <a:solidFill>
                  <a:srgbClr val="7A8290"/>
                </a:solidFill>
                <a:latin typeface="Segoe UI"/>
              </a:rPr>
              <a:t>Holidays and the December–January year-end cycles are flagged, not guessed at.</a:t>
            </a:r>
          </a:p>
        </p:txBody>
      </p:sp>
      <p:sp>
        <p:nvSpPr>
          <p:cNvPr id="14" name="Rectangle 13"/>
          <p:cNvSpPr/>
          <p:nvPr/>
        </p:nvSpPr>
        <p:spPr>
          <a:xfrm>
            <a:off x="6324447" y="1975104"/>
            <a:ext cx="5090007" cy="3822191"/>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ectangle 14"/>
          <p:cNvSpPr/>
          <p:nvPr/>
        </p:nvSpPr>
        <p:spPr>
          <a:xfrm>
            <a:off x="6598767" y="2212848"/>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6598767" y="2487168"/>
            <a:ext cx="4541367" cy="384048"/>
          </a:xfrm>
          <a:prstGeom prst="rect">
            <a:avLst/>
          </a:prstGeom>
          <a:noFill/>
        </p:spPr>
        <p:txBody>
          <a:bodyPr wrap="square" anchor="t" lIns="0" tIns="0" rIns="0" bIns="0">
            <a:noAutofit/>
          </a:bodyPr>
          <a:lstStyle/>
          <a:p>
            <a:pPr algn="l">
              <a:lnSpc>
                <a:spcPts val="2280"/>
              </a:lnSpc>
              <a:spcBef>
                <a:spcPts val="0"/>
              </a:spcBef>
              <a:spcAft>
                <a:spcPts val="0"/>
              </a:spcAft>
            </a:pPr>
            <a:r>
              <a:rPr sz="1900" b="1" i="0">
                <a:solidFill>
                  <a:srgbClr val="313A44"/>
                </a:solidFill>
                <a:latin typeface="Georgia"/>
              </a:rPr>
              <a:t>I know. Submitting anyway.</a:t>
            </a:r>
          </a:p>
        </p:txBody>
      </p:sp>
      <p:sp>
        <p:nvSpPr>
          <p:cNvPr id="17" name="TextBox 16"/>
          <p:cNvSpPr txBox="1"/>
          <p:nvPr/>
        </p:nvSpPr>
        <p:spPr>
          <a:xfrm>
            <a:off x="6598767" y="2926080"/>
            <a:ext cx="4541367" cy="292608"/>
          </a:xfrm>
          <a:prstGeom prst="rect">
            <a:avLst/>
          </a:prstGeom>
          <a:noFill/>
        </p:spPr>
        <p:txBody>
          <a:bodyPr wrap="square" anchor="t" lIns="0" tIns="0" rIns="0" bIns="0">
            <a:noAutofit/>
          </a:bodyPr>
          <a:lstStyle/>
          <a:p>
            <a:pPr algn="l">
              <a:lnSpc>
                <a:spcPts val="1560"/>
              </a:lnSpc>
              <a:spcBef>
                <a:spcPts val="0"/>
              </a:spcBef>
              <a:spcAft>
                <a:spcPts val="0"/>
              </a:spcAft>
            </a:pPr>
            <a:r>
              <a:rPr sz="1300" b="0" i="1">
                <a:solidFill>
                  <a:srgbClr val="7A8290"/>
                </a:solidFill>
                <a:latin typeface="Georgia"/>
              </a:rPr>
              <a:t>Judgment stays with the human — on the record.</a:t>
            </a:r>
          </a:p>
        </p:txBody>
      </p:sp>
      <p:sp>
        <p:nvSpPr>
          <p:cNvPr id="18" name="Rectangle 17"/>
          <p:cNvSpPr/>
          <p:nvPr/>
        </p:nvSpPr>
        <p:spPr>
          <a:xfrm>
            <a:off x="6598767" y="3346704"/>
            <a:ext cx="4541367" cy="566928"/>
          </a:xfrm>
          <a:prstGeom prst="rect">
            <a:avLst/>
          </a:prstGeom>
          <a:solidFill>
            <a:srgbClr val="E6E3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ectangle 18"/>
          <p:cNvSpPr/>
          <p:nvPr/>
        </p:nvSpPr>
        <p:spPr>
          <a:xfrm>
            <a:off x="6726783" y="3511296"/>
            <a:ext cx="201168" cy="201168"/>
          </a:xfrm>
          <a:prstGeom prst="rect">
            <a:avLst/>
          </a:prstGeom>
          <a:solidFill>
            <a:srgbClr val="EBCB00"/>
          </a:solidFill>
          <a:ln w="12700">
            <a:solidFill>
              <a:srgbClr val="313A4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7037679" y="3456432"/>
            <a:ext cx="3974439" cy="384048"/>
          </a:xfrm>
          <a:prstGeom prst="rect">
            <a:avLst/>
          </a:prstGeom>
          <a:noFill/>
        </p:spPr>
        <p:txBody>
          <a:bodyPr wrap="square" anchor="t" lIns="0" tIns="0" rIns="0" bIns="0">
            <a:noAutofit/>
          </a:bodyPr>
          <a:lstStyle/>
          <a:p>
            <a:pPr algn="l">
              <a:lnSpc>
                <a:spcPts val="1400"/>
              </a:lnSpc>
              <a:spcBef>
                <a:spcPts val="0"/>
              </a:spcBef>
              <a:spcAft>
                <a:spcPts val="0"/>
              </a:spcAft>
            </a:pPr>
            <a:r>
              <a:rPr sz="1150" b="0" i="0">
                <a:solidFill>
                  <a:srgbClr val="313A44"/>
                </a:solidFill>
                <a:latin typeface="Segoe UI"/>
              </a:rPr>
              <a:t>I know this violates the reclass submission guidelines and am submitting as an exception</a:t>
            </a:r>
          </a:p>
        </p:txBody>
      </p:sp>
      <p:sp>
        <p:nvSpPr>
          <p:cNvPr id="21" name="TextBox 20"/>
          <p:cNvSpPr txBox="1"/>
          <p:nvPr/>
        </p:nvSpPr>
        <p:spPr>
          <a:xfrm>
            <a:off x="6598767" y="4096512"/>
            <a:ext cx="4541367" cy="914400"/>
          </a:xfrm>
          <a:prstGeom prst="rect">
            <a:avLst/>
          </a:prstGeom>
          <a:noFill/>
        </p:spPr>
        <p:txBody>
          <a:bodyPr wrap="square" anchor="t" lIns="0" tIns="0" rIns="0" bIns="0">
            <a:noAutofit/>
          </a:bodyPr>
          <a:lstStyle/>
          <a:p>
            <a:pPr algn="l">
              <a:lnSpc>
                <a:spcPts val="1639"/>
              </a:lnSpc>
              <a:spcBef>
                <a:spcPts val="0"/>
              </a:spcBef>
              <a:spcAft>
                <a:spcPts val="0"/>
              </a:spcAft>
            </a:pPr>
            <a:r>
              <a:rPr sz="1300" b="0" i="0">
                <a:solidFill>
                  <a:srgbClr val="4A535E"/>
                </a:solidFill>
                <a:latin typeface="Segoe UI"/>
              </a:rPr>
              <a:t>Four rules can be acknowledged: threshold, prior year, already-reclassed, budget-only cost center. The finding drops to INFO with the requester's name on it.</a:t>
            </a:r>
          </a:p>
        </p:txBody>
      </p:sp>
      <p:sp>
        <p:nvSpPr>
          <p:cNvPr id="22" name="Rectangle 21"/>
          <p:cNvSpPr/>
          <p:nvPr/>
        </p:nvSpPr>
        <p:spPr>
          <a:xfrm>
            <a:off x="6598767" y="5120640"/>
            <a:ext cx="4541367" cy="18288"/>
          </a:xfrm>
          <a:prstGeom prst="rect">
            <a:avLst/>
          </a:prstGeom>
          <a:solidFill>
            <a:srgbClr val="E2E0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98767" y="5230368"/>
            <a:ext cx="4541367" cy="475488"/>
          </a:xfrm>
          <a:prstGeom prst="rect">
            <a:avLst/>
          </a:prstGeom>
          <a:noFill/>
        </p:spPr>
        <p:txBody>
          <a:bodyPr wrap="square" anchor="t" lIns="0" tIns="0" rIns="0" bIns="0">
            <a:noAutofit/>
          </a:bodyPr>
          <a:lstStyle/>
          <a:p>
            <a:pPr algn="l">
              <a:lnSpc>
                <a:spcPts val="1430"/>
              </a:lnSpc>
              <a:spcBef>
                <a:spcPts val="0"/>
              </a:spcBef>
              <a:spcAft>
                <a:spcPts val="0"/>
              </a:spcAft>
            </a:pPr>
            <a:r>
              <a:rPr sz="1150" b="0" i="1">
                <a:solidFill>
                  <a:srgbClr val="7A8290"/>
                </a:solidFill>
                <a:latin typeface="Segoe UI"/>
              </a:rPr>
              <a:t>Eight never can, including payroll. No tick box makes a missing transaction exist, or moves more money than the transaction holds.</a:t>
            </a:r>
          </a:p>
        </p:txBody>
      </p:sp>
      <p:sp>
        <p:nvSpPr>
          <p:cNvPr id="24" name="TextBox 23"/>
          <p:cNvSpPr txBox="1"/>
          <p:nvPr/>
        </p:nvSpPr>
        <p:spPr>
          <a:xfrm>
            <a:off x="777240" y="6382512"/>
            <a:ext cx="10637215" cy="274320"/>
          </a:xfrm>
          <a:prstGeom prst="rect">
            <a:avLst/>
          </a:prstGeom>
          <a:noFill/>
        </p:spPr>
        <p:txBody>
          <a:bodyPr wrap="square" anchor="t" lIns="0" tIns="0" rIns="0" bIns="0">
            <a:noAutofit/>
          </a:bodyPr>
          <a:lstStyle/>
          <a:p>
            <a:pPr algn="l">
              <a:lnSpc>
                <a:spcPts val="1080"/>
              </a:lnSpc>
              <a:spcBef>
                <a:spcPts val="0"/>
              </a:spcBef>
              <a:spcAft>
                <a:spcPts val="0"/>
              </a:spcAft>
            </a:pPr>
            <a:r>
              <a:rPr sz="900" b="0" i="0" spc="60">
                <a:solidFill>
                  <a:srgbClr val="7A8290"/>
                </a:solidFill>
                <a:latin typeface="Segoe UI"/>
              </a:rPr>
              <a:t>Reclass Intake  ·  Casey Dobrowolski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itle 1"/>
          <p:cNvSpPr>
            <a:spLocks noGrp="1"/>
          </p:cNvSpPr>
          <p:nvPr>
            <p:ph type="title"/>
          </p:nvPr>
        </p:nvSpPr>
        <p:spPr>
          <a:xfrm>
            <a:off x="777240" y="786384"/>
            <a:ext cx="10637215" cy="713232"/>
          </a:xfrm>
        </p:spPr>
        <p:txBody>
          <a:bodyPr wrap="square" anchor="t" lIns="0" rIns="0" tIns="0" bIns="0">
            <a:noAutofit/>
          </a:bodyPr>
          <a:lstStyle/>
          <a:p>
            <a:pPr algn="l">
              <a:lnSpc>
                <a:spcPts val="3360"/>
              </a:lnSpc>
            </a:pPr>
            <a:r>
              <a:rPr sz="3000" b="1" spc="-20">
                <a:solidFill>
                  <a:srgbClr val="313A44"/>
                </a:solidFill>
                <a:latin typeface="Georgia"/>
              </a:rPr>
              <a:t>Four agents in parallel, against a frozen contract.</a:t>
            </a:r>
          </a:p>
        </p:txBody>
      </p:sp>
      <p:sp>
        <p:nvSpPr>
          <p:cNvPr id="3" name="TextBox 2"/>
          <p:cNvSpPr txBox="1"/>
          <p:nvPr/>
        </p:nvSpPr>
        <p:spPr>
          <a:xfrm>
            <a:off x="777240" y="475488"/>
            <a:ext cx="10637215" cy="256032"/>
          </a:xfrm>
          <a:prstGeom prst="rect">
            <a:avLst/>
          </a:prstGeom>
          <a:noFill/>
        </p:spPr>
        <p:txBody>
          <a:bodyPr wrap="square" anchor="t" lIns="0" tIns="0" rIns="0" bIns="0">
            <a:noAutofit/>
          </a:bodyPr>
          <a:lstStyle/>
          <a:p>
            <a:pPr algn="l">
              <a:lnSpc>
                <a:spcPts val="1260"/>
              </a:lnSpc>
              <a:spcBef>
                <a:spcPts val="0"/>
              </a:spcBef>
              <a:spcAft>
                <a:spcPts val="0"/>
              </a:spcAft>
            </a:pPr>
            <a:r>
              <a:rPr sz="1050" b="1" i="0" spc="140">
                <a:solidFill>
                  <a:srgbClr val="7A8290"/>
                </a:solidFill>
                <a:latin typeface="Segoe UI"/>
              </a:rPr>
              <a:t>CLAUDE CODE CRAFT</a:t>
            </a:r>
          </a:p>
        </p:txBody>
      </p:sp>
      <p:sp>
        <p:nvSpPr>
          <p:cNvPr id="4" name="Rectangle 3"/>
          <p:cNvSpPr/>
          <p:nvPr/>
        </p:nvSpPr>
        <p:spPr>
          <a:xfrm>
            <a:off x="777240" y="1591056"/>
            <a:ext cx="1051560"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ectangle 4"/>
          <p:cNvSpPr/>
          <p:nvPr/>
        </p:nvSpPr>
        <p:spPr>
          <a:xfrm>
            <a:off x="777240" y="1956816"/>
            <a:ext cx="10637215" cy="640080"/>
          </a:xfrm>
          <a:prstGeom prst="rect">
            <a:avLst/>
          </a:prstGeom>
          <a:solidFill>
            <a:srgbClr val="313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a:noAutofit/>
          </a:bodyPr>
          <a:lstStyle/>
          <a:p>
            <a:pPr algn="l">
              <a:lnSpc>
                <a:spcPts val="1260"/>
              </a:lnSpc>
              <a:spcBef>
                <a:spcPts val="0"/>
              </a:spcBef>
              <a:spcAft>
                <a:spcPts val="200"/>
              </a:spcAft>
            </a:pPr>
            <a:r>
              <a:rPr sz="1050" b="1" i="0" spc="150">
                <a:solidFill>
                  <a:srgbClr val="A8B0BA"/>
                </a:solidFill>
                <a:latin typeface="Segoe UI"/>
              </a:rPr>
              <a:t>CONTRACT LOCK · FIRST 15 MINUTES</a:t>
            </a:r>
          </a:p>
          <a:p>
            <a:pPr algn="l">
              <a:lnSpc>
                <a:spcPts val="1560"/>
              </a:lnSpc>
              <a:spcBef>
                <a:spcPts val="0"/>
              </a:spcBef>
              <a:spcAft>
                <a:spcPts val="0"/>
              </a:spcAft>
            </a:pPr>
            <a:r>
              <a:rPr sz="1300" b="0" i="0">
                <a:solidFill>
                  <a:srgbClr val="ECEAE4"/>
                </a:solidFill>
                <a:latin typeface="Segoe UI"/>
              </a:rPr>
              <a:t>Shared types, fixtures and a stub API surface — committed before any track started.</a:t>
            </a:r>
          </a:p>
        </p:txBody>
      </p:sp>
      <p:sp>
        <p:nvSpPr>
          <p:cNvPr id="6" name="Rectangle 5"/>
          <p:cNvSpPr/>
          <p:nvPr/>
        </p:nvSpPr>
        <p:spPr>
          <a:xfrm>
            <a:off x="777240" y="2798064"/>
            <a:ext cx="2467279" cy="1645920"/>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Rectangle 6"/>
          <p:cNvSpPr/>
          <p:nvPr/>
        </p:nvSpPr>
        <p:spPr>
          <a:xfrm>
            <a:off x="996695" y="2999232"/>
            <a:ext cx="329184" cy="292608"/>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680"/>
              </a:lnSpc>
              <a:spcBef>
                <a:spcPts val="0"/>
              </a:spcBef>
              <a:spcAft>
                <a:spcPts val="0"/>
              </a:spcAft>
            </a:pPr>
            <a:r>
              <a:rPr sz="1400" b="1" i="0">
                <a:solidFill>
                  <a:srgbClr val="313A44"/>
                </a:solidFill>
                <a:latin typeface="Georgia"/>
              </a:rPr>
              <a:t>A</a:t>
            </a:r>
          </a:p>
        </p:txBody>
      </p:sp>
      <p:sp>
        <p:nvSpPr>
          <p:cNvPr id="8" name="TextBox 7"/>
          <p:cNvSpPr txBox="1"/>
          <p:nvPr/>
        </p:nvSpPr>
        <p:spPr>
          <a:xfrm>
            <a:off x="1417319" y="2999232"/>
            <a:ext cx="1607743" cy="329184"/>
          </a:xfrm>
          <a:prstGeom prst="rect">
            <a:avLst/>
          </a:prstGeom>
          <a:noFill/>
        </p:spPr>
        <p:txBody>
          <a:bodyPr wrap="square" anchor="t" lIns="0" tIns="0" rIns="0" bIns="0">
            <a:noAutofit/>
          </a:bodyPr>
          <a:lstStyle/>
          <a:p>
            <a:pPr algn="l">
              <a:lnSpc>
                <a:spcPts val="1800"/>
              </a:lnSpc>
              <a:spcBef>
                <a:spcPts val="0"/>
              </a:spcBef>
              <a:spcAft>
                <a:spcPts val="0"/>
              </a:spcAft>
            </a:pPr>
            <a:r>
              <a:rPr sz="1500" b="1" i="0">
                <a:solidFill>
                  <a:srgbClr val="313A44"/>
                </a:solidFill>
                <a:latin typeface="Georgia"/>
              </a:rPr>
              <a:t>Power BI</a:t>
            </a:r>
          </a:p>
        </p:txBody>
      </p:sp>
      <p:sp>
        <p:nvSpPr>
          <p:cNvPr id="9" name="TextBox 8"/>
          <p:cNvSpPr txBox="1"/>
          <p:nvPr/>
        </p:nvSpPr>
        <p:spPr>
          <a:xfrm>
            <a:off x="996695" y="3474720"/>
            <a:ext cx="2028367" cy="841248"/>
          </a:xfrm>
          <a:prstGeom prst="rect">
            <a:avLst/>
          </a:prstGeom>
          <a:noFill/>
        </p:spPr>
        <p:txBody>
          <a:bodyPr wrap="square" anchor="t" lIns="0" tIns="0" rIns="0" bIns="0">
            <a:noAutofit/>
          </a:bodyPr>
          <a:lstStyle/>
          <a:p>
            <a:pPr algn="l">
              <a:lnSpc>
                <a:spcPts val="1430"/>
              </a:lnSpc>
              <a:spcBef>
                <a:spcPts val="0"/>
              </a:spcBef>
              <a:spcAft>
                <a:spcPts val="0"/>
              </a:spcAft>
            </a:pPr>
            <a:r>
              <a:rPr sz="1150" b="0" i="0">
                <a:solidFill>
                  <a:srgbClr val="4A535E"/>
                </a:solidFill>
                <a:latin typeface="Segoe UI"/>
              </a:rPr>
              <a:t>Live lookup by GL Business Key and dimension dropdowns. Owns the network, so it owns the offline path.</a:t>
            </a:r>
          </a:p>
        </p:txBody>
      </p:sp>
      <p:sp>
        <p:nvSpPr>
          <p:cNvPr id="10" name="Rectangle 9"/>
          <p:cNvSpPr/>
          <p:nvPr/>
        </p:nvSpPr>
        <p:spPr>
          <a:xfrm>
            <a:off x="3500551" y="2798064"/>
            <a:ext cx="2467279" cy="1645920"/>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Rectangle 10"/>
          <p:cNvSpPr/>
          <p:nvPr/>
        </p:nvSpPr>
        <p:spPr>
          <a:xfrm>
            <a:off x="3720007" y="2999232"/>
            <a:ext cx="329184" cy="292608"/>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680"/>
              </a:lnSpc>
              <a:spcBef>
                <a:spcPts val="0"/>
              </a:spcBef>
              <a:spcAft>
                <a:spcPts val="0"/>
              </a:spcAft>
            </a:pPr>
            <a:r>
              <a:rPr sz="1400" b="1" i="0">
                <a:solidFill>
                  <a:srgbClr val="313A44"/>
                </a:solidFill>
                <a:latin typeface="Georgia"/>
              </a:rPr>
              <a:t>B</a:t>
            </a:r>
          </a:p>
        </p:txBody>
      </p:sp>
      <p:sp>
        <p:nvSpPr>
          <p:cNvPr id="12" name="TextBox 11"/>
          <p:cNvSpPr txBox="1"/>
          <p:nvPr/>
        </p:nvSpPr>
        <p:spPr>
          <a:xfrm>
            <a:off x="4140631" y="2999232"/>
            <a:ext cx="1607743" cy="329184"/>
          </a:xfrm>
          <a:prstGeom prst="rect">
            <a:avLst/>
          </a:prstGeom>
          <a:noFill/>
        </p:spPr>
        <p:txBody>
          <a:bodyPr wrap="square" anchor="t" lIns="0" tIns="0" rIns="0" bIns="0">
            <a:noAutofit/>
          </a:bodyPr>
          <a:lstStyle/>
          <a:p>
            <a:pPr algn="l">
              <a:lnSpc>
                <a:spcPts val="1800"/>
              </a:lnSpc>
              <a:spcBef>
                <a:spcPts val="0"/>
              </a:spcBef>
              <a:spcAft>
                <a:spcPts val="0"/>
              </a:spcAft>
            </a:pPr>
            <a:r>
              <a:rPr sz="1500" b="1" i="0">
                <a:solidFill>
                  <a:srgbClr val="313A44"/>
                </a:solidFill>
                <a:latin typeface="Georgia"/>
              </a:rPr>
              <a:t>Rules</a:t>
            </a:r>
          </a:p>
        </p:txBody>
      </p:sp>
      <p:sp>
        <p:nvSpPr>
          <p:cNvPr id="13" name="TextBox 12"/>
          <p:cNvSpPr txBox="1"/>
          <p:nvPr/>
        </p:nvSpPr>
        <p:spPr>
          <a:xfrm>
            <a:off x="3720007" y="3474720"/>
            <a:ext cx="2028367" cy="841248"/>
          </a:xfrm>
          <a:prstGeom prst="rect">
            <a:avLst/>
          </a:prstGeom>
          <a:noFill/>
        </p:spPr>
        <p:txBody>
          <a:bodyPr wrap="square" anchor="t" lIns="0" tIns="0" rIns="0" bIns="0">
            <a:noAutofit/>
          </a:bodyPr>
          <a:lstStyle/>
          <a:p>
            <a:pPr algn="l">
              <a:lnSpc>
                <a:spcPts val="1430"/>
              </a:lnSpc>
              <a:spcBef>
                <a:spcPts val="0"/>
              </a:spcBef>
              <a:spcAft>
                <a:spcPts val="0"/>
              </a:spcAft>
            </a:pPr>
            <a:r>
              <a:rPr sz="1150" b="0" i="0">
                <a:solidFill>
                  <a:srgbClr val="4A535E"/>
                </a:solidFill>
                <a:latin typeface="Segoe UI"/>
              </a:rPr>
              <a:t>16 rules as pure functions over frozen fixtures, with the tests that prove them.</a:t>
            </a:r>
          </a:p>
        </p:txBody>
      </p:sp>
      <p:sp>
        <p:nvSpPr>
          <p:cNvPr id="14" name="Rectangle 13"/>
          <p:cNvSpPr/>
          <p:nvPr/>
        </p:nvSpPr>
        <p:spPr>
          <a:xfrm>
            <a:off x="6223863" y="2798064"/>
            <a:ext cx="2467279" cy="1645920"/>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ectangle 14"/>
          <p:cNvSpPr/>
          <p:nvPr/>
        </p:nvSpPr>
        <p:spPr>
          <a:xfrm>
            <a:off x="6443319" y="2999232"/>
            <a:ext cx="329184" cy="292608"/>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680"/>
              </a:lnSpc>
              <a:spcBef>
                <a:spcPts val="0"/>
              </a:spcBef>
              <a:spcAft>
                <a:spcPts val="0"/>
              </a:spcAft>
            </a:pPr>
            <a:r>
              <a:rPr sz="1400" b="1" i="0">
                <a:solidFill>
                  <a:srgbClr val="313A44"/>
                </a:solidFill>
                <a:latin typeface="Georgia"/>
              </a:rPr>
              <a:t>C</a:t>
            </a:r>
          </a:p>
        </p:txBody>
      </p:sp>
      <p:sp>
        <p:nvSpPr>
          <p:cNvPr id="16" name="TextBox 15"/>
          <p:cNvSpPr txBox="1"/>
          <p:nvPr/>
        </p:nvSpPr>
        <p:spPr>
          <a:xfrm>
            <a:off x="6863943" y="2999232"/>
            <a:ext cx="1607743" cy="329184"/>
          </a:xfrm>
          <a:prstGeom prst="rect">
            <a:avLst/>
          </a:prstGeom>
          <a:noFill/>
        </p:spPr>
        <p:txBody>
          <a:bodyPr wrap="square" anchor="t" lIns="0" tIns="0" rIns="0" bIns="0">
            <a:noAutofit/>
          </a:bodyPr>
          <a:lstStyle/>
          <a:p>
            <a:pPr algn="l">
              <a:lnSpc>
                <a:spcPts val="1800"/>
              </a:lnSpc>
              <a:spcBef>
                <a:spcPts val="0"/>
              </a:spcBef>
              <a:spcAft>
                <a:spcPts val="0"/>
              </a:spcAft>
            </a:pPr>
            <a:r>
              <a:rPr sz="1500" b="1" i="0">
                <a:solidFill>
                  <a:srgbClr val="313A44"/>
                </a:solidFill>
                <a:latin typeface="Georgia"/>
              </a:rPr>
              <a:t>Frontend</a:t>
            </a:r>
          </a:p>
        </p:txBody>
      </p:sp>
      <p:sp>
        <p:nvSpPr>
          <p:cNvPr id="17" name="TextBox 16"/>
          <p:cNvSpPr txBox="1"/>
          <p:nvPr/>
        </p:nvSpPr>
        <p:spPr>
          <a:xfrm>
            <a:off x="6443319" y="3474720"/>
            <a:ext cx="2028367" cy="841248"/>
          </a:xfrm>
          <a:prstGeom prst="rect">
            <a:avLst/>
          </a:prstGeom>
          <a:noFill/>
        </p:spPr>
        <p:txBody>
          <a:bodyPr wrap="square" anchor="t" lIns="0" tIns="0" rIns="0" bIns="0">
            <a:noAutofit/>
          </a:bodyPr>
          <a:lstStyle/>
          <a:p>
            <a:pPr algn="l">
              <a:lnSpc>
                <a:spcPts val="1430"/>
              </a:lnSpc>
              <a:spcBef>
                <a:spcPts val="0"/>
              </a:spcBef>
              <a:spcAft>
                <a:spcPts val="0"/>
              </a:spcAft>
            </a:pPr>
            <a:r>
              <a:rPr sz="1150" b="0" i="0">
                <a:solidFill>
                  <a:srgbClr val="4A535E"/>
                </a:solidFill>
                <a:latin typeface="Segoe UI"/>
              </a:rPr>
              <a:t>The entire UI, built against stub endpoints that existed from minute zero.</a:t>
            </a:r>
          </a:p>
        </p:txBody>
      </p:sp>
      <p:sp>
        <p:nvSpPr>
          <p:cNvPr id="18" name="Rectangle 17"/>
          <p:cNvSpPr/>
          <p:nvPr/>
        </p:nvSpPr>
        <p:spPr>
          <a:xfrm>
            <a:off x="8947175" y="2798064"/>
            <a:ext cx="2467279" cy="1645920"/>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ectangle 18"/>
          <p:cNvSpPr/>
          <p:nvPr/>
        </p:nvSpPr>
        <p:spPr>
          <a:xfrm>
            <a:off x="9166631" y="2999232"/>
            <a:ext cx="329184" cy="292608"/>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680"/>
              </a:lnSpc>
              <a:spcBef>
                <a:spcPts val="0"/>
              </a:spcBef>
              <a:spcAft>
                <a:spcPts val="0"/>
              </a:spcAft>
            </a:pPr>
            <a:r>
              <a:rPr sz="1400" b="1" i="0">
                <a:solidFill>
                  <a:srgbClr val="313A44"/>
                </a:solidFill>
                <a:latin typeface="Georgia"/>
              </a:rPr>
              <a:t>D</a:t>
            </a:r>
          </a:p>
        </p:txBody>
      </p:sp>
      <p:sp>
        <p:nvSpPr>
          <p:cNvPr id="20" name="TextBox 19"/>
          <p:cNvSpPr txBox="1"/>
          <p:nvPr/>
        </p:nvSpPr>
        <p:spPr>
          <a:xfrm>
            <a:off x="9587255" y="2999232"/>
            <a:ext cx="1607743" cy="329184"/>
          </a:xfrm>
          <a:prstGeom prst="rect">
            <a:avLst/>
          </a:prstGeom>
          <a:noFill/>
        </p:spPr>
        <p:txBody>
          <a:bodyPr wrap="square" anchor="t" lIns="0" tIns="0" rIns="0" bIns="0">
            <a:noAutofit/>
          </a:bodyPr>
          <a:lstStyle/>
          <a:p>
            <a:pPr algn="l">
              <a:lnSpc>
                <a:spcPts val="1800"/>
              </a:lnSpc>
              <a:spcBef>
                <a:spcPts val="0"/>
              </a:spcBef>
              <a:spcAft>
                <a:spcPts val="0"/>
              </a:spcAft>
            </a:pPr>
            <a:r>
              <a:rPr sz="1500" b="1" i="0">
                <a:solidFill>
                  <a:srgbClr val="313A44"/>
                </a:solidFill>
                <a:latin typeface="Georgia"/>
              </a:rPr>
              <a:t>Export</a:t>
            </a:r>
          </a:p>
        </p:txBody>
      </p:sp>
      <p:sp>
        <p:nvSpPr>
          <p:cNvPr id="21" name="TextBox 20"/>
          <p:cNvSpPr txBox="1"/>
          <p:nvPr/>
        </p:nvSpPr>
        <p:spPr>
          <a:xfrm>
            <a:off x="9166631" y="3474720"/>
            <a:ext cx="2028367" cy="841248"/>
          </a:xfrm>
          <a:prstGeom prst="rect">
            <a:avLst/>
          </a:prstGeom>
          <a:noFill/>
        </p:spPr>
        <p:txBody>
          <a:bodyPr wrap="square" anchor="t" lIns="0" tIns="0" rIns="0" bIns="0">
            <a:noAutofit/>
          </a:bodyPr>
          <a:lstStyle/>
          <a:p>
            <a:pPr algn="l">
              <a:lnSpc>
                <a:spcPts val="1430"/>
              </a:lnSpc>
              <a:spcBef>
                <a:spcPts val="0"/>
              </a:spcBef>
              <a:spcAft>
                <a:spcPts val="0"/>
              </a:spcAft>
            </a:pPr>
            <a:r>
              <a:rPr sz="1150" b="0" i="0">
                <a:solidFill>
                  <a:srgbClr val="4A535E"/>
                </a:solidFill>
                <a:latin typeface="Segoe UI"/>
              </a:rPr>
              <a:t>Working List XLSX, batch consolidation, and the audit log.</a:t>
            </a:r>
          </a:p>
        </p:txBody>
      </p:sp>
      <p:sp>
        <p:nvSpPr>
          <p:cNvPr id="22" name="Rectangle 21"/>
          <p:cNvSpPr/>
          <p:nvPr/>
        </p:nvSpPr>
        <p:spPr>
          <a:xfrm>
            <a:off x="777240" y="4572000"/>
            <a:ext cx="10637215" cy="1517904"/>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ectangle 22"/>
          <p:cNvSpPr/>
          <p:nvPr/>
        </p:nvSpPr>
        <p:spPr>
          <a:xfrm>
            <a:off x="1051560" y="4809744"/>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1051560" y="5065776"/>
            <a:ext cx="10088575" cy="329184"/>
          </a:xfrm>
          <a:prstGeom prst="rect">
            <a:avLst/>
          </a:prstGeom>
          <a:noFill/>
        </p:spPr>
        <p:txBody>
          <a:bodyPr wrap="square" anchor="t" lIns="0" tIns="0" rIns="0" bIns="0">
            <a:noAutofit/>
          </a:bodyPr>
          <a:lstStyle/>
          <a:p>
            <a:pPr algn="l">
              <a:lnSpc>
                <a:spcPts val="2039"/>
              </a:lnSpc>
              <a:spcBef>
                <a:spcPts val="0"/>
              </a:spcBef>
              <a:spcAft>
                <a:spcPts val="0"/>
              </a:spcAft>
            </a:pPr>
            <a:r>
              <a:rPr sz="1700" b="1" i="0">
                <a:solidFill>
                  <a:srgbClr val="313A44"/>
                </a:solidFill>
                <a:latin typeface="Georgia"/>
              </a:rPr>
              <a:t>A hook, not a convention.</a:t>
            </a:r>
          </a:p>
        </p:txBody>
      </p:sp>
      <p:sp>
        <p:nvSpPr>
          <p:cNvPr id="25" name="TextBox 24"/>
          <p:cNvSpPr txBox="1"/>
          <p:nvPr/>
        </p:nvSpPr>
        <p:spPr>
          <a:xfrm>
            <a:off x="1051560" y="5449824"/>
            <a:ext cx="10088575" cy="585216"/>
          </a:xfrm>
          <a:prstGeom prst="rect">
            <a:avLst/>
          </a:prstGeom>
          <a:noFill/>
        </p:spPr>
        <p:txBody>
          <a:bodyPr wrap="square" anchor="t" lIns="0" tIns="0" rIns="0" bIns="0">
            <a:noAutofit/>
          </a:bodyPr>
          <a:lstStyle/>
          <a:p>
            <a:pPr algn="l">
              <a:lnSpc>
                <a:spcPts val="1610"/>
              </a:lnSpc>
              <a:spcBef>
                <a:spcPts val="0"/>
              </a:spcBef>
              <a:spcAft>
                <a:spcPts val="0"/>
              </a:spcAft>
            </a:pPr>
            <a:r>
              <a:rPr sz="1300" b="0" i="0">
                <a:solidFill>
                  <a:srgbClr val="4A535E"/>
                </a:solidFill>
                <a:latin typeface="Segoe UI"/>
              </a:rPr>
              <a:t>.claude/hooks/contract_lock.py is a PreToolUse hook that blocks edits to the frozen contracts. Tested against 32 cases. Mid-sprint it stopped an agent that had legitimate authorisation — and that agent escalated to a human instead of routing around it.</a:t>
            </a:r>
          </a:p>
        </p:txBody>
      </p:sp>
      <p:sp>
        <p:nvSpPr>
          <p:cNvPr id="26" name="TextBox 25"/>
          <p:cNvSpPr txBox="1"/>
          <p:nvPr/>
        </p:nvSpPr>
        <p:spPr>
          <a:xfrm>
            <a:off x="777240" y="6382512"/>
            <a:ext cx="10637215" cy="274320"/>
          </a:xfrm>
          <a:prstGeom prst="rect">
            <a:avLst/>
          </a:prstGeom>
          <a:noFill/>
        </p:spPr>
        <p:txBody>
          <a:bodyPr wrap="square" anchor="t" lIns="0" tIns="0" rIns="0" bIns="0">
            <a:noAutofit/>
          </a:bodyPr>
          <a:lstStyle/>
          <a:p>
            <a:pPr algn="l">
              <a:lnSpc>
                <a:spcPts val="1080"/>
              </a:lnSpc>
              <a:spcBef>
                <a:spcPts val="0"/>
              </a:spcBef>
              <a:spcAft>
                <a:spcPts val="0"/>
              </a:spcAft>
            </a:pPr>
            <a:r>
              <a:rPr sz="900" b="0" i="0" spc="60">
                <a:solidFill>
                  <a:srgbClr val="7A8290"/>
                </a:solidFill>
                <a:latin typeface="Segoe UI"/>
              </a:rPr>
              <a:t>Reclass Intake  ·  Casey Dobrowolski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itle 1"/>
          <p:cNvSpPr>
            <a:spLocks noGrp="1"/>
          </p:cNvSpPr>
          <p:nvPr>
            <p:ph type="title"/>
          </p:nvPr>
        </p:nvSpPr>
        <p:spPr>
          <a:xfrm>
            <a:off x="777240" y="786384"/>
            <a:ext cx="10637215" cy="713232"/>
          </a:xfrm>
        </p:spPr>
        <p:txBody>
          <a:bodyPr wrap="square" anchor="t" lIns="0" rIns="0" tIns="0" bIns="0">
            <a:noAutofit/>
          </a:bodyPr>
          <a:lstStyle/>
          <a:p>
            <a:pPr algn="l">
              <a:lnSpc>
                <a:spcPts val="3360"/>
              </a:lnSpc>
            </a:pPr>
            <a:r>
              <a:rPr sz="3000" b="1" spc="-20">
                <a:solidFill>
                  <a:srgbClr val="313A44"/>
                </a:solidFill>
                <a:latin typeface="Georgia"/>
              </a:rPr>
              <a:t>The repo ships the machinery that built it.</a:t>
            </a:r>
          </a:p>
        </p:txBody>
      </p:sp>
      <p:sp>
        <p:nvSpPr>
          <p:cNvPr id="3" name="TextBox 2"/>
          <p:cNvSpPr txBox="1"/>
          <p:nvPr/>
        </p:nvSpPr>
        <p:spPr>
          <a:xfrm>
            <a:off x="777240" y="475488"/>
            <a:ext cx="10637215" cy="256032"/>
          </a:xfrm>
          <a:prstGeom prst="rect">
            <a:avLst/>
          </a:prstGeom>
          <a:noFill/>
        </p:spPr>
        <p:txBody>
          <a:bodyPr wrap="square" anchor="t" lIns="0" tIns="0" rIns="0" bIns="0">
            <a:noAutofit/>
          </a:bodyPr>
          <a:lstStyle/>
          <a:p>
            <a:pPr algn="l">
              <a:lnSpc>
                <a:spcPts val="1260"/>
              </a:lnSpc>
              <a:spcBef>
                <a:spcPts val="0"/>
              </a:spcBef>
              <a:spcAft>
                <a:spcPts val="0"/>
              </a:spcAft>
            </a:pPr>
            <a:r>
              <a:rPr sz="1050" b="1" i="0" spc="140">
                <a:solidFill>
                  <a:srgbClr val="7A8290"/>
                </a:solidFill>
                <a:latin typeface="Segoe UI"/>
              </a:rPr>
              <a:t>STAYING POWER</a:t>
            </a:r>
          </a:p>
        </p:txBody>
      </p:sp>
      <p:sp>
        <p:nvSpPr>
          <p:cNvPr id="4" name="Rectangle 3"/>
          <p:cNvSpPr/>
          <p:nvPr/>
        </p:nvSpPr>
        <p:spPr>
          <a:xfrm>
            <a:off x="777240" y="1591056"/>
            <a:ext cx="1051560"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5" name="Table 4"/>
          <p:cNvGraphicFramePr>
            <a:graphicFrameLocks noGrp="1"/>
          </p:cNvGraphicFramePr>
          <p:nvPr/>
        </p:nvGraphicFramePr>
        <p:xfrm>
          <a:off x="777240" y="1975104"/>
          <a:ext cx="10637215" cy="2633472"/>
        </p:xfrm>
        <a:graphic>
          <a:graphicData uri="http://schemas.openxmlformats.org/drawingml/2006/table">
            <a:tbl>
              <a:tblPr firstRow="0" bandRow="0" firstCol="0" lastRow="0" lastCol="0" bandCol="0">
                <a:tableStyleId>{2D5ABB26-0587-4C30-8999-92F81FD0307C}</a:tableStyleId>
              </a:tblPr>
              <a:tblGrid>
                <a:gridCol w="3246120"/>
                <a:gridCol w="7391095"/>
              </a:tblGrid>
              <a:tr h="658368">
                <a:tc>
                  <a:txBody>
                    <a:bodyPr wrap="square"/>
                    <a:lstStyle/>
                    <a:p>
                      <a:pPr algn="l">
                        <a:lnSpc>
                          <a:spcPts val="1390"/>
                        </a:lnSpc>
                        <a:spcBef>
                          <a:spcPts val="0"/>
                        </a:spcBef>
                        <a:spcAft>
                          <a:spcPts val="0"/>
                        </a:spcAft>
                      </a:pPr>
                      <a:r>
                        <a:rPr sz="1200" b="1" i="0">
                          <a:solidFill>
                            <a:srgbClr val="313A44"/>
                          </a:solidFill>
                          <a:latin typeface="Consolas"/>
                        </a:rPr>
                        <a:t>.claude/agents/</a:t>
                      </a:r>
                    </a:p>
                  </a:txBody>
                  <a:tcPr marL="128016" marR="128016" marT="54864" marB="54864" anchor="ctr">
                    <a:solidFill>
                      <a:srgbClr val="E6E3DB"/>
                    </a:solidFill>
                  </a:tcPr>
                </a:tc>
                <a:tc>
                  <a:txBody>
                    <a:bodyPr wrap="square"/>
                    <a:lstStyle/>
                    <a:p>
                      <a:pPr algn="l">
                        <a:lnSpc>
                          <a:spcPts val="1450"/>
                        </a:lnSpc>
                        <a:spcBef>
                          <a:spcPts val="0"/>
                        </a:spcBef>
                        <a:spcAft>
                          <a:spcPts val="0"/>
                        </a:spcAft>
                      </a:pPr>
                      <a:r>
                        <a:rPr sz="1250" b="0" i="0">
                          <a:solidFill>
                            <a:srgbClr val="4A535E"/>
                          </a:solidFill>
                          <a:latin typeface="Segoe UI"/>
                        </a:rPr>
                        <a:t>The build crew, committed. Four subagent definitions declaring exclusive files, forbidden paths and the command that proves them done. Sprint 1 was four calls in one message.</a:t>
                      </a:r>
                    </a:p>
                  </a:txBody>
                  <a:tcPr marL="128016" marR="128016" marT="54864" marB="54864" anchor="ctr">
                    <a:solidFill>
                      <a:srgbClr val="FFFFFF"/>
                    </a:solidFill>
                  </a:tcPr>
                </a:tc>
              </a:tr>
              <a:tr h="658368">
                <a:tc>
                  <a:txBody>
                    <a:bodyPr wrap="square"/>
                    <a:lstStyle/>
                    <a:p>
                      <a:pPr algn="l">
                        <a:lnSpc>
                          <a:spcPts val="1390"/>
                        </a:lnSpc>
                        <a:spcBef>
                          <a:spcPts val="0"/>
                        </a:spcBef>
                        <a:spcAft>
                          <a:spcPts val="0"/>
                        </a:spcAft>
                      </a:pPr>
                      <a:r>
                        <a:rPr sz="1200" b="1" i="0">
                          <a:solidFill>
                            <a:srgbClr val="313A44"/>
                          </a:solidFill>
                          <a:latin typeface="Consolas"/>
                        </a:rPr>
                        <a:t>.claude/hooks/contract_lock.py</a:t>
                      </a:r>
                    </a:p>
                  </a:txBody>
                  <a:tcPr marL="128016" marR="128016" marT="54864" marB="54864" anchor="ctr">
                    <a:solidFill>
                      <a:srgbClr val="E6E3DB"/>
                    </a:solidFill>
                  </a:tcPr>
                </a:tc>
                <a:tc>
                  <a:txBody>
                    <a:bodyPr wrap="square"/>
                    <a:lstStyle/>
                    <a:p>
                      <a:pPr algn="l">
                        <a:lnSpc>
                          <a:spcPts val="1450"/>
                        </a:lnSpc>
                        <a:spcBef>
                          <a:spcPts val="0"/>
                        </a:spcBef>
                        <a:spcAft>
                          <a:spcPts val="0"/>
                        </a:spcAft>
                      </a:pPr>
                      <a:r>
                        <a:rPr sz="1250" b="0" i="0">
                          <a:solidFill>
                            <a:srgbClr val="4A535E"/>
                          </a:solidFill>
                          <a:latin typeface="Segoe UI"/>
                        </a:rPr>
                        <a:t>Enforcement, not convention. Blocks edits to the frozen contracts and the vendored Power BI connector.</a:t>
                      </a:r>
                    </a:p>
                  </a:txBody>
                  <a:tcPr marL="128016" marR="128016" marT="54864" marB="54864" anchor="ctr">
                    <a:solidFill>
                      <a:srgbClr val="FFFFFF"/>
                    </a:solidFill>
                  </a:tcPr>
                </a:tc>
              </a:tr>
              <a:tr h="658368">
                <a:tc>
                  <a:txBody>
                    <a:bodyPr wrap="square"/>
                    <a:lstStyle/>
                    <a:p>
                      <a:pPr algn="l">
                        <a:lnSpc>
                          <a:spcPts val="1390"/>
                        </a:lnSpc>
                        <a:spcBef>
                          <a:spcPts val="0"/>
                        </a:spcBef>
                        <a:spcAft>
                          <a:spcPts val="0"/>
                        </a:spcAft>
                      </a:pPr>
                      <a:r>
                        <a:rPr sz="1200" b="1" i="0">
                          <a:solidFill>
                            <a:srgbClr val="313A44"/>
                          </a:solidFill>
                          <a:latin typeface="Consolas"/>
                        </a:rPr>
                        <a:t>.claude/skills/add-rule/</a:t>
                      </a:r>
                    </a:p>
                  </a:txBody>
                  <a:tcPr marL="128016" marR="128016" marT="54864" marB="54864" anchor="ctr">
                    <a:solidFill>
                      <a:srgbClr val="E6E3DB"/>
                    </a:solidFill>
                  </a:tcPr>
                </a:tc>
                <a:tc>
                  <a:txBody>
                    <a:bodyPr wrap="square"/>
                    <a:lstStyle/>
                    <a:p>
                      <a:pPr algn="l">
                        <a:lnSpc>
                          <a:spcPts val="1450"/>
                        </a:lnSpc>
                        <a:spcBef>
                          <a:spcPts val="0"/>
                        </a:spcBef>
                        <a:spcAft>
                          <a:spcPts val="0"/>
                        </a:spcAft>
                      </a:pPr>
                      <a:r>
                        <a:rPr sz="1250" b="0" i="0">
                          <a:solidFill>
                            <a:srgbClr val="4A535E"/>
                          </a:solidFill>
                          <a:latin typeface="Segoe UI"/>
                        </a:rPr>
                        <a:t>/add-rule "&lt;plain english rule&gt;" scaffolds the function, a test, a fixture and the citation. Rule 17 gets added by someone who isn't the author.</a:t>
                      </a:r>
                    </a:p>
                  </a:txBody>
                  <a:tcPr marL="128016" marR="128016" marT="54864" marB="54864" anchor="ctr">
                    <a:solidFill>
                      <a:srgbClr val="FFFFFF"/>
                    </a:solidFill>
                  </a:tcPr>
                </a:tc>
              </a:tr>
              <a:tr h="658368">
                <a:tc>
                  <a:txBody>
                    <a:bodyPr wrap="square"/>
                    <a:lstStyle/>
                    <a:p>
                      <a:pPr algn="l">
                        <a:lnSpc>
                          <a:spcPts val="1390"/>
                        </a:lnSpc>
                        <a:spcBef>
                          <a:spcPts val="0"/>
                        </a:spcBef>
                        <a:spcAft>
                          <a:spcPts val="0"/>
                        </a:spcAft>
                      </a:pPr>
                      <a:r>
                        <a:rPr sz="1200" b="1" i="0">
                          <a:solidFill>
                            <a:srgbClr val="313A44"/>
                          </a:solidFill>
                          <a:latin typeface="Consolas"/>
                        </a:rPr>
                        <a:t>scripts/pre_commit_check.py</a:t>
                      </a:r>
                    </a:p>
                  </a:txBody>
                  <a:tcPr marL="128016" marR="128016" marT="54864" marB="54864" anchor="ctr">
                    <a:solidFill>
                      <a:srgbClr val="E6E3DB"/>
                    </a:solidFill>
                  </a:tcPr>
                </a:tc>
                <a:tc>
                  <a:txBody>
                    <a:bodyPr wrap="square"/>
                    <a:lstStyle/>
                    <a:p>
                      <a:pPr algn="l">
                        <a:lnSpc>
                          <a:spcPts val="1450"/>
                        </a:lnSpc>
                        <a:spcBef>
                          <a:spcPts val="0"/>
                        </a:spcBef>
                        <a:spcAft>
                          <a:spcPts val="0"/>
                        </a:spcAft>
                      </a:pPr>
                      <a:r>
                        <a:rPr sz="1250" b="0" i="0">
                          <a:solidFill>
                            <a:srgbClr val="4A535E"/>
                          </a:solidFill>
                          <a:latin typeface="Segoe UI"/>
                        </a:rPr>
                        <a:t>Blocks secrets and live financial data from entering the repo — and blocks --no-verify.</a:t>
                      </a:r>
                    </a:p>
                  </a:txBody>
                  <a:tcPr marL="128016" marR="128016" marT="54864" marB="54864" anchor="ctr">
                    <a:solidFill>
                      <a:srgbClr val="FFFFFF"/>
                    </a:solidFill>
                  </a:tcPr>
                </a:tc>
              </a:tr>
            </a:tbl>
          </a:graphicData>
        </a:graphic>
      </p:graphicFrame>
      <p:sp>
        <p:nvSpPr>
          <p:cNvPr id="6" name="Rectangle 5"/>
          <p:cNvSpPr/>
          <p:nvPr/>
        </p:nvSpPr>
        <p:spPr>
          <a:xfrm>
            <a:off x="777240" y="4718304"/>
            <a:ext cx="10637215" cy="1408176"/>
          </a:xfrm>
          <a:prstGeom prst="rect">
            <a:avLst/>
          </a:prstGeom>
          <a:solidFill>
            <a:srgbClr val="313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1051560" y="4901184"/>
            <a:ext cx="10088575" cy="329184"/>
          </a:xfrm>
          <a:prstGeom prst="rect">
            <a:avLst/>
          </a:prstGeom>
          <a:noFill/>
        </p:spPr>
        <p:txBody>
          <a:bodyPr wrap="square" anchor="t" lIns="0" tIns="0" rIns="0" bIns="0">
            <a:noAutofit/>
          </a:bodyPr>
          <a:lstStyle/>
          <a:p>
            <a:pPr algn="l">
              <a:lnSpc>
                <a:spcPts val="2039"/>
              </a:lnSpc>
              <a:spcBef>
                <a:spcPts val="0"/>
              </a:spcBef>
              <a:spcAft>
                <a:spcPts val="0"/>
              </a:spcAft>
            </a:pPr>
            <a:r>
              <a:rPr sz="1700" b="1" i="0">
                <a:solidFill>
                  <a:srgbClr val="F5F3ED"/>
                </a:solidFill>
                <a:latin typeface="Georgia"/>
              </a:rPr>
              <a:t>The gate grew teeth.</a:t>
            </a:r>
          </a:p>
        </p:txBody>
      </p:sp>
      <p:sp>
        <p:nvSpPr>
          <p:cNvPr id="8" name="TextBox 7"/>
          <p:cNvSpPr txBox="1"/>
          <p:nvPr/>
        </p:nvSpPr>
        <p:spPr>
          <a:xfrm>
            <a:off x="1051560" y="5266944"/>
            <a:ext cx="10088575" cy="731520"/>
          </a:xfrm>
          <a:prstGeom prst="rect">
            <a:avLst/>
          </a:prstGeom>
          <a:noFill/>
        </p:spPr>
        <p:txBody>
          <a:bodyPr wrap="square" anchor="t" lIns="0" tIns="0" rIns="0" bIns="0">
            <a:noAutofit/>
          </a:bodyPr>
          <a:lstStyle/>
          <a:p>
            <a:pPr algn="l">
              <a:lnSpc>
                <a:spcPts val="1610"/>
              </a:lnSpc>
              <a:spcBef>
                <a:spcPts val="0"/>
              </a:spcBef>
              <a:spcAft>
                <a:spcPts val="0"/>
              </a:spcAft>
            </a:pPr>
            <a:r>
              <a:rPr sz="1300" b="0" i="0">
                <a:solidFill>
                  <a:srgbClr val="ECEAE4"/>
                </a:solidFill>
                <a:latin typeface="Segoe UI"/>
              </a:rPr>
              <a:t>It caught a real incident: three genuine vendor rows with real contract IDs and amounts reached a demo fixture. A later review found the scanner itself read nine files as empty on Windows and reported success. Fixed — then extended with a second checker that asserts data invariants, with tests that break each one to prove the guard still bites.</a:t>
            </a:r>
          </a:p>
        </p:txBody>
      </p:sp>
      <p:sp>
        <p:nvSpPr>
          <p:cNvPr id="9" name="TextBox 8"/>
          <p:cNvSpPr txBox="1"/>
          <p:nvPr/>
        </p:nvSpPr>
        <p:spPr>
          <a:xfrm>
            <a:off x="777240" y="6382512"/>
            <a:ext cx="10637215" cy="274320"/>
          </a:xfrm>
          <a:prstGeom prst="rect">
            <a:avLst/>
          </a:prstGeom>
          <a:noFill/>
        </p:spPr>
        <p:txBody>
          <a:bodyPr wrap="square" anchor="t" lIns="0" tIns="0" rIns="0" bIns="0">
            <a:noAutofit/>
          </a:bodyPr>
          <a:lstStyle/>
          <a:p>
            <a:pPr algn="l">
              <a:lnSpc>
                <a:spcPts val="1080"/>
              </a:lnSpc>
              <a:spcBef>
                <a:spcPts val="0"/>
              </a:spcBef>
              <a:spcAft>
                <a:spcPts val="0"/>
              </a:spcAft>
            </a:pPr>
            <a:r>
              <a:rPr sz="900" b="0" i="0" spc="60">
                <a:solidFill>
                  <a:srgbClr val="7A8290"/>
                </a:solidFill>
                <a:latin typeface="Segoe UI"/>
              </a:rPr>
              <a:t>Reclass Intake  ·  Casey Dobrowolski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itle 1"/>
          <p:cNvSpPr>
            <a:spLocks noGrp="1"/>
          </p:cNvSpPr>
          <p:nvPr>
            <p:ph type="title"/>
          </p:nvPr>
        </p:nvSpPr>
        <p:spPr>
          <a:xfrm>
            <a:off x="777240" y="786384"/>
            <a:ext cx="10637215" cy="713232"/>
          </a:xfrm>
        </p:spPr>
        <p:txBody>
          <a:bodyPr wrap="square" anchor="t" lIns="0" rIns="0" tIns="0" bIns="0">
            <a:noAutofit/>
          </a:bodyPr>
          <a:lstStyle/>
          <a:p>
            <a:pPr algn="l">
              <a:lnSpc>
                <a:spcPts val="3360"/>
              </a:lnSpc>
            </a:pPr>
            <a:r>
              <a:rPr sz="3000" b="1" spc="-20">
                <a:solidFill>
                  <a:srgbClr val="313A44"/>
                </a:solidFill>
                <a:latin typeface="Georgia"/>
              </a:rPr>
              <a:t>We were wrong three times, and wrote it down.</a:t>
            </a:r>
          </a:p>
        </p:txBody>
      </p:sp>
      <p:sp>
        <p:nvSpPr>
          <p:cNvPr id="3" name="TextBox 2"/>
          <p:cNvSpPr txBox="1"/>
          <p:nvPr/>
        </p:nvSpPr>
        <p:spPr>
          <a:xfrm>
            <a:off x="777240" y="475488"/>
            <a:ext cx="10637215" cy="256032"/>
          </a:xfrm>
          <a:prstGeom prst="rect">
            <a:avLst/>
          </a:prstGeom>
          <a:noFill/>
        </p:spPr>
        <p:txBody>
          <a:bodyPr wrap="square" anchor="t" lIns="0" tIns="0" rIns="0" bIns="0">
            <a:noAutofit/>
          </a:bodyPr>
          <a:lstStyle/>
          <a:p>
            <a:pPr algn="l">
              <a:lnSpc>
                <a:spcPts val="1260"/>
              </a:lnSpc>
              <a:spcBef>
                <a:spcPts val="0"/>
              </a:spcBef>
              <a:spcAft>
                <a:spcPts val="0"/>
              </a:spcAft>
            </a:pPr>
            <a:r>
              <a:rPr sz="1050" b="1" i="0" spc="140">
                <a:solidFill>
                  <a:srgbClr val="7A8290"/>
                </a:solidFill>
                <a:latin typeface="Segoe UI"/>
              </a:rPr>
              <a:t>WHAT WE GOT WRONG, AND FIXED</a:t>
            </a:r>
          </a:p>
        </p:txBody>
      </p:sp>
      <p:sp>
        <p:nvSpPr>
          <p:cNvPr id="4" name="Rectangle 3"/>
          <p:cNvSpPr/>
          <p:nvPr/>
        </p:nvSpPr>
        <p:spPr>
          <a:xfrm>
            <a:off x="777240" y="1591056"/>
            <a:ext cx="1051560"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ectangle 4"/>
          <p:cNvSpPr/>
          <p:nvPr/>
        </p:nvSpPr>
        <p:spPr>
          <a:xfrm>
            <a:off x="777240" y="2011680"/>
            <a:ext cx="3301898" cy="3438144"/>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ectangle 5"/>
          <p:cNvSpPr/>
          <p:nvPr/>
        </p:nvSpPr>
        <p:spPr>
          <a:xfrm>
            <a:off x="1051560" y="2286000"/>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1051560" y="2578608"/>
            <a:ext cx="2753258" cy="768096"/>
          </a:xfrm>
          <a:prstGeom prst="rect">
            <a:avLst/>
          </a:prstGeom>
          <a:noFill/>
        </p:spPr>
        <p:txBody>
          <a:bodyPr wrap="square" anchor="t" lIns="0" tIns="0" rIns="0" bIns="0">
            <a:noAutofit/>
          </a:bodyPr>
          <a:lstStyle/>
          <a:p>
            <a:pPr algn="l">
              <a:lnSpc>
                <a:spcPts val="1880"/>
              </a:lnSpc>
              <a:spcBef>
                <a:spcPts val="0"/>
              </a:spcBef>
              <a:spcAft>
                <a:spcPts val="0"/>
              </a:spcAft>
            </a:pPr>
            <a:r>
              <a:rPr sz="1650" b="1" i="0">
                <a:solidFill>
                  <a:srgbClr val="313A44"/>
                </a:solidFill>
                <a:latin typeface="Georgia"/>
              </a:rPr>
              <a:t>We invented a story about the business.</a:t>
            </a:r>
          </a:p>
        </p:txBody>
      </p:sp>
      <p:sp>
        <p:nvSpPr>
          <p:cNvPr id="8" name="TextBox 7"/>
          <p:cNvSpPr txBox="1"/>
          <p:nvPr/>
        </p:nvSpPr>
        <p:spPr>
          <a:xfrm>
            <a:off x="1051560" y="3401568"/>
            <a:ext cx="2753258" cy="1426464"/>
          </a:xfrm>
          <a:prstGeom prst="rect">
            <a:avLst/>
          </a:prstGeom>
          <a:noFill/>
        </p:spPr>
        <p:txBody>
          <a:bodyPr wrap="square" anchor="t" lIns="0" tIns="0" rIns="0" bIns="0">
            <a:noAutofit/>
          </a:bodyPr>
          <a:lstStyle/>
          <a:p>
            <a:pPr algn="l">
              <a:lnSpc>
                <a:spcPts val="1510"/>
              </a:lnSpc>
              <a:spcBef>
                <a:spcPts val="0"/>
              </a:spcBef>
              <a:spcAft>
                <a:spcPts val="0"/>
              </a:spcAft>
            </a:pPr>
            <a:r>
              <a:rPr sz="1200" b="0" i="0">
                <a:solidFill>
                  <a:srgbClr val="4A535E"/>
                </a:solidFill>
                <a:latin typeface="Segoe UI"/>
              </a:rPr>
              <a:t>We designed a multi-field reclass as one atomic row. It demoed well. The process owner corrected it on sight: accounting wants one Working List row per change, each carrying its instruction in column X — the field they actually read, which we had left blank.</a:t>
            </a:r>
          </a:p>
        </p:txBody>
      </p:sp>
      <p:sp>
        <p:nvSpPr>
          <p:cNvPr id="9" name="Rectangle 8"/>
          <p:cNvSpPr/>
          <p:nvPr/>
        </p:nvSpPr>
        <p:spPr>
          <a:xfrm>
            <a:off x="1051560" y="4901184"/>
            <a:ext cx="2753258" cy="18288"/>
          </a:xfrm>
          <a:prstGeom prst="rect">
            <a:avLst/>
          </a:prstGeom>
          <a:solidFill>
            <a:srgbClr val="E2E0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1051560" y="4992624"/>
            <a:ext cx="2753258" cy="420624"/>
          </a:xfrm>
          <a:prstGeom prst="rect">
            <a:avLst/>
          </a:prstGeom>
          <a:noFill/>
        </p:spPr>
        <p:txBody>
          <a:bodyPr wrap="square" anchor="t" lIns="0" tIns="0" rIns="0" bIns="0">
            <a:noAutofit/>
          </a:bodyPr>
          <a:lstStyle/>
          <a:p>
            <a:pPr algn="l">
              <a:lnSpc>
                <a:spcPts val="1400"/>
              </a:lnSpc>
              <a:spcBef>
                <a:spcPts val="0"/>
              </a:spcBef>
              <a:spcAft>
                <a:spcPts val="0"/>
              </a:spcAft>
            </a:pPr>
            <a:r>
              <a:rPr sz="1150" b="0" i="1">
                <a:solidFill>
                  <a:srgbClr val="7A8290"/>
                </a:solidFill>
                <a:latin typeface="Segoe UI"/>
              </a:rPr>
              <a:t>Export, rule and README rewritten; the citation records who corrected it.</a:t>
            </a:r>
          </a:p>
        </p:txBody>
      </p:sp>
      <p:sp>
        <p:nvSpPr>
          <p:cNvPr id="11" name="Rectangle 10"/>
          <p:cNvSpPr/>
          <p:nvPr/>
        </p:nvSpPr>
        <p:spPr>
          <a:xfrm>
            <a:off x="4444898" y="2011680"/>
            <a:ext cx="3301898" cy="3438144"/>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ectangle 11"/>
          <p:cNvSpPr/>
          <p:nvPr/>
        </p:nvSpPr>
        <p:spPr>
          <a:xfrm>
            <a:off x="4719218" y="2286000"/>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4719218" y="2578608"/>
            <a:ext cx="2753258" cy="768096"/>
          </a:xfrm>
          <a:prstGeom prst="rect">
            <a:avLst/>
          </a:prstGeom>
          <a:noFill/>
        </p:spPr>
        <p:txBody>
          <a:bodyPr wrap="square" anchor="t" lIns="0" tIns="0" rIns="0" bIns="0">
            <a:noAutofit/>
          </a:bodyPr>
          <a:lstStyle/>
          <a:p>
            <a:pPr algn="l">
              <a:lnSpc>
                <a:spcPts val="1880"/>
              </a:lnSpc>
              <a:spcBef>
                <a:spcPts val="0"/>
              </a:spcBef>
              <a:spcAft>
                <a:spcPts val="0"/>
              </a:spcAft>
            </a:pPr>
            <a:r>
              <a:rPr sz="1650" b="1" i="0">
                <a:solidFill>
                  <a:srgbClr val="313A44"/>
                </a:solidFill>
                <a:latin typeface="Georgia"/>
              </a:rPr>
              <a:t>A fresh clone was unusable.</a:t>
            </a:r>
          </a:p>
        </p:txBody>
      </p:sp>
      <p:sp>
        <p:nvSpPr>
          <p:cNvPr id="14" name="TextBox 13"/>
          <p:cNvSpPr txBox="1"/>
          <p:nvPr/>
        </p:nvSpPr>
        <p:spPr>
          <a:xfrm>
            <a:off x="4719218" y="3401568"/>
            <a:ext cx="2753258" cy="1426464"/>
          </a:xfrm>
          <a:prstGeom prst="rect">
            <a:avLst/>
          </a:prstGeom>
          <a:noFill/>
        </p:spPr>
        <p:txBody>
          <a:bodyPr wrap="square" anchor="t" lIns="0" tIns="0" rIns="0" bIns="0">
            <a:noAutofit/>
          </a:bodyPr>
          <a:lstStyle/>
          <a:p>
            <a:pPr algn="l">
              <a:lnSpc>
                <a:spcPts val="1510"/>
              </a:lnSpc>
              <a:spcBef>
                <a:spcPts val="0"/>
              </a:spcBef>
              <a:spcAft>
                <a:spcPts val="0"/>
              </a:spcAft>
            </a:pPr>
            <a:r>
              <a:rPr sz="1200" b="0" i="0">
                <a:solidFill>
                  <a:srgbClr val="4A535E"/>
                </a:solidFill>
                <a:latin typeface="Segoe UI"/>
              </a:rPr>
              <a:t>Our documentation told people to set a variable in .env to get offline mode. Nothing in the codebase loaded .env. The file was inert, the default attempted an interactive Power BI sign-in, and the dropdowns hung.</a:t>
            </a:r>
          </a:p>
        </p:txBody>
      </p:sp>
      <p:sp>
        <p:nvSpPr>
          <p:cNvPr id="15" name="Rectangle 14"/>
          <p:cNvSpPr/>
          <p:nvPr/>
        </p:nvSpPr>
        <p:spPr>
          <a:xfrm>
            <a:off x="4719218" y="4901184"/>
            <a:ext cx="2753258" cy="18288"/>
          </a:xfrm>
          <a:prstGeom prst="rect">
            <a:avLst/>
          </a:prstGeom>
          <a:solidFill>
            <a:srgbClr val="E2E0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4719218" y="4992624"/>
            <a:ext cx="2753258" cy="420624"/>
          </a:xfrm>
          <a:prstGeom prst="rect">
            <a:avLst/>
          </a:prstGeom>
          <a:noFill/>
        </p:spPr>
        <p:txBody>
          <a:bodyPr wrap="square" anchor="t" lIns="0" tIns="0" rIns="0" bIns="0">
            <a:noAutofit/>
          </a:bodyPr>
          <a:lstStyle/>
          <a:p>
            <a:pPr algn="l">
              <a:lnSpc>
                <a:spcPts val="1400"/>
              </a:lnSpc>
              <a:spcBef>
                <a:spcPts val="0"/>
              </a:spcBef>
              <a:spcAft>
                <a:spcPts val="0"/>
              </a:spcAft>
            </a:pPr>
            <a:r>
              <a:rPr sz="1150" b="0" i="1">
                <a:solidFill>
                  <a:srgbClr val="7A8290"/>
                </a:solidFill>
                <a:latin typeface="Segoe UI"/>
              </a:rPr>
              <a:t>The default is now offline. A fresh clone works with no configuration at all.</a:t>
            </a:r>
          </a:p>
        </p:txBody>
      </p:sp>
      <p:sp>
        <p:nvSpPr>
          <p:cNvPr id="17" name="Rectangle 16"/>
          <p:cNvSpPr/>
          <p:nvPr/>
        </p:nvSpPr>
        <p:spPr>
          <a:xfrm>
            <a:off x="8112556" y="2011680"/>
            <a:ext cx="3301898" cy="3438144"/>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Rectangle 17"/>
          <p:cNvSpPr/>
          <p:nvPr/>
        </p:nvSpPr>
        <p:spPr>
          <a:xfrm>
            <a:off x="8386876" y="2286000"/>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TextBox 18"/>
          <p:cNvSpPr txBox="1"/>
          <p:nvPr/>
        </p:nvSpPr>
        <p:spPr>
          <a:xfrm>
            <a:off x="8386876" y="2578608"/>
            <a:ext cx="2753258" cy="768096"/>
          </a:xfrm>
          <a:prstGeom prst="rect">
            <a:avLst/>
          </a:prstGeom>
          <a:noFill/>
        </p:spPr>
        <p:txBody>
          <a:bodyPr wrap="square" anchor="t" lIns="0" tIns="0" rIns="0" bIns="0">
            <a:noAutofit/>
          </a:bodyPr>
          <a:lstStyle/>
          <a:p>
            <a:pPr algn="l">
              <a:lnSpc>
                <a:spcPts val="1880"/>
              </a:lnSpc>
              <a:spcBef>
                <a:spcPts val="0"/>
              </a:spcBef>
              <a:spcAft>
                <a:spcPts val="0"/>
              </a:spcAft>
            </a:pPr>
            <a:r>
              <a:rPr sz="1650" b="1" i="0">
                <a:solidFill>
                  <a:srgbClr val="313A44"/>
                </a:solidFill>
                <a:latin typeface="Georgia"/>
              </a:rPr>
              <a:t>The export stated the wrong amount.</a:t>
            </a:r>
          </a:p>
        </p:txBody>
      </p:sp>
      <p:sp>
        <p:nvSpPr>
          <p:cNvPr id="20" name="TextBox 19"/>
          <p:cNvSpPr txBox="1"/>
          <p:nvPr/>
        </p:nvSpPr>
        <p:spPr>
          <a:xfrm>
            <a:off x="8386876" y="3401568"/>
            <a:ext cx="2753258" cy="1426464"/>
          </a:xfrm>
          <a:prstGeom prst="rect">
            <a:avLst/>
          </a:prstGeom>
          <a:noFill/>
        </p:spPr>
        <p:txBody>
          <a:bodyPr wrap="square" anchor="t" lIns="0" tIns="0" rIns="0" bIns="0">
            <a:noAutofit/>
          </a:bodyPr>
          <a:lstStyle/>
          <a:p>
            <a:pPr algn="l">
              <a:lnSpc>
                <a:spcPts val="1510"/>
              </a:lnSpc>
              <a:spcBef>
                <a:spcPts val="0"/>
              </a:spcBef>
              <a:spcAft>
                <a:spcPts val="0"/>
              </a:spcAft>
            </a:pPr>
            <a:r>
              <a:rPr sz="1200" b="0" i="0">
                <a:solidFill>
                  <a:srgbClr val="4A535E"/>
                </a:solidFill>
                <a:latin typeface="Segoe UI"/>
              </a:rPr>
              <a:t>Column X carried no figure, so a partial reclass told accounting to move the entire transaction. Six of the eight rows in our own demo file were partials — most of the artifact, not an edge case.</a:t>
            </a:r>
          </a:p>
        </p:txBody>
      </p:sp>
      <p:sp>
        <p:nvSpPr>
          <p:cNvPr id="21" name="Rectangle 20"/>
          <p:cNvSpPr/>
          <p:nvPr/>
        </p:nvSpPr>
        <p:spPr>
          <a:xfrm>
            <a:off x="8386876" y="4901184"/>
            <a:ext cx="2753258" cy="18288"/>
          </a:xfrm>
          <a:prstGeom prst="rect">
            <a:avLst/>
          </a:prstGeom>
          <a:solidFill>
            <a:srgbClr val="E2E0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8386876" y="4992624"/>
            <a:ext cx="2753258" cy="420624"/>
          </a:xfrm>
          <a:prstGeom prst="rect">
            <a:avLst/>
          </a:prstGeom>
          <a:noFill/>
        </p:spPr>
        <p:txBody>
          <a:bodyPr wrap="square" anchor="t" lIns="0" tIns="0" rIns="0" bIns="0">
            <a:noAutofit/>
          </a:bodyPr>
          <a:lstStyle/>
          <a:p>
            <a:pPr algn="l">
              <a:lnSpc>
                <a:spcPts val="1400"/>
              </a:lnSpc>
              <a:spcBef>
                <a:spcPts val="0"/>
              </a:spcBef>
              <a:spcAft>
                <a:spcPts val="0"/>
              </a:spcAft>
            </a:pPr>
            <a:r>
              <a:rPr sz="1150" b="0" i="1">
                <a:solidFill>
                  <a:srgbClr val="7A8290"/>
                </a:solidFill>
                <a:latin typeface="Segoe UI"/>
              </a:rPr>
              <a:t>Found by an independent review, not by us.</a:t>
            </a:r>
          </a:p>
        </p:txBody>
      </p:sp>
      <p:sp>
        <p:nvSpPr>
          <p:cNvPr id="23" name="TextBox 22"/>
          <p:cNvSpPr txBox="1"/>
          <p:nvPr/>
        </p:nvSpPr>
        <p:spPr>
          <a:xfrm>
            <a:off x="777240" y="5687568"/>
            <a:ext cx="10637215" cy="548640"/>
          </a:xfrm>
          <a:prstGeom prst="rect">
            <a:avLst/>
          </a:prstGeom>
          <a:noFill/>
        </p:spPr>
        <p:txBody>
          <a:bodyPr wrap="square" anchor="t" lIns="0" tIns="0" rIns="0" bIns="0">
            <a:noAutofit/>
          </a:bodyPr>
          <a:lstStyle/>
          <a:p>
            <a:pPr algn="l">
              <a:lnSpc>
                <a:spcPts val="1920"/>
              </a:lnSpc>
              <a:spcBef>
                <a:spcPts val="0"/>
              </a:spcBef>
              <a:spcAft>
                <a:spcPts val="0"/>
              </a:spcAft>
            </a:pPr>
            <a:r>
              <a:rPr sz="1600" b="0" i="1">
                <a:solidFill>
                  <a:srgbClr val="313A44"/>
                </a:solidFill>
                <a:latin typeface="Georgia"/>
              </a:rPr>
              <a:t>Each was found by someone reading the work critically. None was quietly patched.</a:t>
            </a:r>
          </a:p>
        </p:txBody>
      </p:sp>
      <p:sp>
        <p:nvSpPr>
          <p:cNvPr id="24" name="TextBox 23"/>
          <p:cNvSpPr txBox="1"/>
          <p:nvPr/>
        </p:nvSpPr>
        <p:spPr>
          <a:xfrm>
            <a:off x="777240" y="6382512"/>
            <a:ext cx="10637215" cy="274320"/>
          </a:xfrm>
          <a:prstGeom prst="rect">
            <a:avLst/>
          </a:prstGeom>
          <a:noFill/>
        </p:spPr>
        <p:txBody>
          <a:bodyPr wrap="square" anchor="t" lIns="0" tIns="0" rIns="0" bIns="0">
            <a:noAutofit/>
          </a:bodyPr>
          <a:lstStyle/>
          <a:p>
            <a:pPr algn="l">
              <a:lnSpc>
                <a:spcPts val="1080"/>
              </a:lnSpc>
              <a:spcBef>
                <a:spcPts val="0"/>
              </a:spcBef>
              <a:spcAft>
                <a:spcPts val="0"/>
              </a:spcAft>
            </a:pPr>
            <a:r>
              <a:rPr sz="900" b="0" i="0" spc="60">
                <a:solidFill>
                  <a:srgbClr val="7A8290"/>
                </a:solidFill>
                <a:latin typeface="Segoe UI"/>
              </a:rPr>
              <a:t>Reclass Intake  ·  Casey Dobrowolski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itle 1"/>
          <p:cNvSpPr>
            <a:spLocks noGrp="1"/>
          </p:cNvSpPr>
          <p:nvPr>
            <p:ph type="title"/>
          </p:nvPr>
        </p:nvSpPr>
        <p:spPr>
          <a:xfrm>
            <a:off x="777240" y="786384"/>
            <a:ext cx="10637215" cy="713232"/>
          </a:xfrm>
        </p:spPr>
        <p:txBody>
          <a:bodyPr wrap="square" anchor="t" lIns="0" rIns="0" tIns="0" bIns="0">
            <a:noAutofit/>
          </a:bodyPr>
          <a:lstStyle/>
          <a:p>
            <a:pPr algn="l">
              <a:lnSpc>
                <a:spcPts val="3360"/>
              </a:lnSpc>
            </a:pPr>
            <a:r>
              <a:rPr sz="3000" b="1" spc="-20">
                <a:solidFill>
                  <a:srgbClr val="313A44"/>
                </a:solidFill>
                <a:latin typeface="Georgia"/>
              </a:rPr>
              <a:t>Pilot it without changing anything downstream.</a:t>
            </a:r>
          </a:p>
        </p:txBody>
      </p:sp>
      <p:sp>
        <p:nvSpPr>
          <p:cNvPr id="3" name="TextBox 2"/>
          <p:cNvSpPr txBox="1"/>
          <p:nvPr/>
        </p:nvSpPr>
        <p:spPr>
          <a:xfrm>
            <a:off x="777240" y="475488"/>
            <a:ext cx="10637215" cy="256032"/>
          </a:xfrm>
          <a:prstGeom prst="rect">
            <a:avLst/>
          </a:prstGeom>
          <a:noFill/>
        </p:spPr>
        <p:txBody>
          <a:bodyPr wrap="square" anchor="t" lIns="0" tIns="0" rIns="0" bIns="0">
            <a:noAutofit/>
          </a:bodyPr>
          <a:lstStyle/>
          <a:p>
            <a:pPr algn="l">
              <a:lnSpc>
                <a:spcPts val="1260"/>
              </a:lnSpc>
              <a:spcBef>
                <a:spcPts val="0"/>
              </a:spcBef>
              <a:spcAft>
                <a:spcPts val="0"/>
              </a:spcAft>
            </a:pPr>
            <a:r>
              <a:rPr sz="1050" b="1" i="0" spc="140">
                <a:solidFill>
                  <a:srgbClr val="7A8290"/>
                </a:solidFill>
                <a:latin typeface="Segoe UI"/>
              </a:rPr>
              <a:t>WHERE IT GOES</a:t>
            </a:r>
          </a:p>
        </p:txBody>
      </p:sp>
      <p:sp>
        <p:nvSpPr>
          <p:cNvPr id="4" name="Rectangle 3"/>
          <p:cNvSpPr/>
          <p:nvPr/>
        </p:nvSpPr>
        <p:spPr>
          <a:xfrm>
            <a:off x="777240" y="1591056"/>
            <a:ext cx="1051560"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ectangle 4"/>
          <p:cNvSpPr/>
          <p:nvPr/>
        </p:nvSpPr>
        <p:spPr>
          <a:xfrm>
            <a:off x="777240" y="2011680"/>
            <a:ext cx="3301898" cy="2688336"/>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Rectangle 5"/>
          <p:cNvSpPr/>
          <p:nvPr/>
        </p:nvSpPr>
        <p:spPr>
          <a:xfrm>
            <a:off x="1051560" y="2286000"/>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1051560" y="2578608"/>
            <a:ext cx="2753258" cy="713232"/>
          </a:xfrm>
          <a:prstGeom prst="rect">
            <a:avLst/>
          </a:prstGeom>
          <a:noFill/>
        </p:spPr>
        <p:txBody>
          <a:bodyPr wrap="square" anchor="t" lIns="0" tIns="0" rIns="0" bIns="0">
            <a:noAutofit/>
          </a:bodyPr>
          <a:lstStyle/>
          <a:p>
            <a:pPr algn="l">
              <a:lnSpc>
                <a:spcPts val="1939"/>
              </a:lnSpc>
              <a:spcBef>
                <a:spcPts val="0"/>
              </a:spcBef>
              <a:spcAft>
                <a:spcPts val="0"/>
              </a:spcAft>
            </a:pPr>
            <a:r>
              <a:rPr sz="1700" b="1" i="0">
                <a:solidFill>
                  <a:srgbClr val="313A44"/>
                </a:solidFill>
                <a:latin typeface="Georgia"/>
              </a:rPr>
              <a:t>Same file, same process</a:t>
            </a:r>
          </a:p>
        </p:txBody>
      </p:sp>
      <p:sp>
        <p:nvSpPr>
          <p:cNvPr id="8" name="TextBox 7"/>
          <p:cNvSpPr txBox="1"/>
          <p:nvPr/>
        </p:nvSpPr>
        <p:spPr>
          <a:xfrm>
            <a:off x="1051560" y="3346704"/>
            <a:ext cx="2753258" cy="1207008"/>
          </a:xfrm>
          <a:prstGeom prst="rect">
            <a:avLst/>
          </a:prstGeom>
          <a:noFill/>
        </p:spPr>
        <p:txBody>
          <a:bodyPr wrap="square" anchor="t" lIns="0" tIns="0" rIns="0" bIns="0">
            <a:noAutofit/>
          </a:bodyPr>
          <a:lstStyle/>
          <a:p>
            <a:pPr algn="l">
              <a:lnSpc>
                <a:spcPts val="1580"/>
              </a:lnSpc>
              <a:spcBef>
                <a:spcPts val="0"/>
              </a:spcBef>
              <a:spcAft>
                <a:spcPts val="0"/>
              </a:spcAft>
            </a:pPr>
            <a:r>
              <a:rPr sz="1250" b="0" i="0">
                <a:solidFill>
                  <a:srgbClr val="4A535E"/>
                </a:solidFill>
                <a:latin typeface="Segoe UI"/>
              </a:rPr>
              <a:t>The output is the Working List format accounting already consumes. No migration, no new system of record. It slots in front of the existing process rather than replacing it.</a:t>
            </a:r>
          </a:p>
        </p:txBody>
      </p:sp>
      <p:sp>
        <p:nvSpPr>
          <p:cNvPr id="9" name="Rectangle 8"/>
          <p:cNvSpPr/>
          <p:nvPr/>
        </p:nvSpPr>
        <p:spPr>
          <a:xfrm>
            <a:off x="4444898" y="2011680"/>
            <a:ext cx="3301898" cy="2688336"/>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ectangle 9"/>
          <p:cNvSpPr/>
          <p:nvPr/>
        </p:nvSpPr>
        <p:spPr>
          <a:xfrm>
            <a:off x="4719218" y="2286000"/>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4719218" y="2578608"/>
            <a:ext cx="2753258" cy="713232"/>
          </a:xfrm>
          <a:prstGeom prst="rect">
            <a:avLst/>
          </a:prstGeom>
          <a:noFill/>
        </p:spPr>
        <p:txBody>
          <a:bodyPr wrap="square" anchor="t" lIns="0" tIns="0" rIns="0" bIns="0">
            <a:noAutofit/>
          </a:bodyPr>
          <a:lstStyle/>
          <a:p>
            <a:pPr algn="l">
              <a:lnSpc>
                <a:spcPts val="1939"/>
              </a:lnSpc>
              <a:spcBef>
                <a:spcPts val="0"/>
              </a:spcBef>
              <a:spcAft>
                <a:spcPts val="0"/>
              </a:spcAft>
            </a:pPr>
            <a:r>
              <a:rPr sz="1700" b="1" i="0">
                <a:solidFill>
                  <a:srgbClr val="313A44"/>
                </a:solidFill>
                <a:latin typeface="Georgia"/>
              </a:rPr>
              <a:t>Offline from a fresh clone</a:t>
            </a:r>
          </a:p>
        </p:txBody>
      </p:sp>
      <p:sp>
        <p:nvSpPr>
          <p:cNvPr id="12" name="TextBox 11"/>
          <p:cNvSpPr txBox="1"/>
          <p:nvPr/>
        </p:nvSpPr>
        <p:spPr>
          <a:xfrm>
            <a:off x="4719218" y="3346704"/>
            <a:ext cx="2753258" cy="1207008"/>
          </a:xfrm>
          <a:prstGeom prst="rect">
            <a:avLst/>
          </a:prstGeom>
          <a:noFill/>
        </p:spPr>
        <p:txBody>
          <a:bodyPr wrap="square" anchor="t" lIns="0" tIns="0" rIns="0" bIns="0">
            <a:noAutofit/>
          </a:bodyPr>
          <a:lstStyle/>
          <a:p>
            <a:pPr algn="l">
              <a:lnSpc>
                <a:spcPts val="1580"/>
              </a:lnSpc>
              <a:spcBef>
                <a:spcPts val="0"/>
              </a:spcBef>
              <a:spcAft>
                <a:spcPts val="0"/>
              </a:spcAft>
            </a:pPr>
            <a:r>
              <a:rPr sz="1250" b="0" i="0">
                <a:solidFill>
                  <a:srgbClr val="4A535E"/>
                </a:solidFill>
                <a:latin typeface="Segoe UI"/>
              </a:rPr>
              <a:t>Two commands, no credentials, no Power BI access, no cloud resource provisioned at any point. A colleague can try it this afternoon.</a:t>
            </a:r>
          </a:p>
        </p:txBody>
      </p:sp>
      <p:sp>
        <p:nvSpPr>
          <p:cNvPr id="13" name="Rectangle 12"/>
          <p:cNvSpPr/>
          <p:nvPr/>
        </p:nvSpPr>
        <p:spPr>
          <a:xfrm>
            <a:off x="8112556" y="2011680"/>
            <a:ext cx="3301898" cy="2688336"/>
          </a:xfrm>
          <a:prstGeom prst="rect">
            <a:avLst/>
          </a:prstGeom>
          <a:solidFill>
            <a:srgbClr val="FFFFFF"/>
          </a:solidFill>
          <a:ln w="9525">
            <a:solidFill>
              <a:srgbClr val="E2E0D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ectangle 13"/>
          <p:cNvSpPr/>
          <p:nvPr/>
        </p:nvSpPr>
        <p:spPr>
          <a:xfrm>
            <a:off x="8386876" y="2286000"/>
            <a:ext cx="475488"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386876" y="2578608"/>
            <a:ext cx="2753258" cy="713232"/>
          </a:xfrm>
          <a:prstGeom prst="rect">
            <a:avLst/>
          </a:prstGeom>
          <a:noFill/>
        </p:spPr>
        <p:txBody>
          <a:bodyPr wrap="square" anchor="t" lIns="0" tIns="0" rIns="0" bIns="0">
            <a:noAutofit/>
          </a:bodyPr>
          <a:lstStyle/>
          <a:p>
            <a:pPr algn="l">
              <a:lnSpc>
                <a:spcPts val="1939"/>
              </a:lnSpc>
              <a:spcBef>
                <a:spcPts val="0"/>
              </a:spcBef>
              <a:spcAft>
                <a:spcPts val="0"/>
              </a:spcAft>
            </a:pPr>
            <a:r>
              <a:rPr sz="1700" b="1" i="0">
                <a:solidFill>
                  <a:srgbClr val="313A44"/>
                </a:solidFill>
                <a:latin typeface="Georgia"/>
              </a:rPr>
              <a:t>It feeds the automation behind it</a:t>
            </a:r>
          </a:p>
        </p:txBody>
      </p:sp>
      <p:sp>
        <p:nvSpPr>
          <p:cNvPr id="16" name="TextBox 15"/>
          <p:cNvSpPr txBox="1"/>
          <p:nvPr/>
        </p:nvSpPr>
        <p:spPr>
          <a:xfrm>
            <a:off x="8386876" y="3346704"/>
            <a:ext cx="2753258" cy="1207008"/>
          </a:xfrm>
          <a:prstGeom prst="rect">
            <a:avLst/>
          </a:prstGeom>
          <a:noFill/>
        </p:spPr>
        <p:txBody>
          <a:bodyPr wrap="square" anchor="t" lIns="0" tIns="0" rIns="0" bIns="0">
            <a:noAutofit/>
          </a:bodyPr>
          <a:lstStyle/>
          <a:p>
            <a:pPr algn="l">
              <a:lnSpc>
                <a:spcPts val="1580"/>
              </a:lnSpc>
              <a:spcBef>
                <a:spcPts val="0"/>
              </a:spcBef>
              <a:spcAft>
                <a:spcPts val="0"/>
              </a:spcAft>
            </a:pPr>
            <a:r>
              <a:rPr sz="1250" b="0" i="0">
                <a:solidFill>
                  <a:srgbClr val="4A535E"/>
                </a:solidFill>
                <a:latin typeface="Segoe UI"/>
              </a:rPr>
              <a:t>Every submission writes a structured, labelled audit record. The four weakest categories in the existing email-triage automation are exactly what this form validates.</a:t>
            </a:r>
          </a:p>
        </p:txBody>
      </p:sp>
      <p:sp>
        <p:nvSpPr>
          <p:cNvPr id="17" name="Rectangle 16"/>
          <p:cNvSpPr/>
          <p:nvPr/>
        </p:nvSpPr>
        <p:spPr>
          <a:xfrm>
            <a:off x="777240" y="4882896"/>
            <a:ext cx="10637215" cy="1243584"/>
          </a:xfrm>
          <a:prstGeom prst="rect">
            <a:avLst/>
          </a:prstGeom>
          <a:solidFill>
            <a:srgbClr val="E6E3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51560" y="5047488"/>
            <a:ext cx="10088575" cy="274320"/>
          </a:xfrm>
          <a:prstGeom prst="rect">
            <a:avLst/>
          </a:prstGeom>
          <a:noFill/>
        </p:spPr>
        <p:txBody>
          <a:bodyPr wrap="square" anchor="t" lIns="0" tIns="0" rIns="0" bIns="0">
            <a:noAutofit/>
          </a:bodyPr>
          <a:lstStyle/>
          <a:p>
            <a:pPr algn="l">
              <a:lnSpc>
                <a:spcPts val="1200"/>
              </a:lnSpc>
              <a:spcBef>
                <a:spcPts val="0"/>
              </a:spcBef>
              <a:spcAft>
                <a:spcPts val="0"/>
              </a:spcAft>
            </a:pPr>
            <a:r>
              <a:rPr sz="1000" b="1" i="0" spc="150">
                <a:solidFill>
                  <a:srgbClr val="313A44"/>
                </a:solidFill>
                <a:latin typeface="Segoe UI"/>
              </a:rPr>
              <a:t>NOT BUILT — AND SAID SO</a:t>
            </a:r>
          </a:p>
        </p:txBody>
      </p:sp>
      <p:sp>
        <p:nvSpPr>
          <p:cNvPr id="19" name="TextBox 18"/>
          <p:cNvSpPr txBox="1"/>
          <p:nvPr/>
        </p:nvSpPr>
        <p:spPr>
          <a:xfrm>
            <a:off x="1051560" y="5358384"/>
            <a:ext cx="10088575" cy="640080"/>
          </a:xfrm>
          <a:prstGeom prst="rect">
            <a:avLst/>
          </a:prstGeom>
          <a:noFill/>
        </p:spPr>
        <p:txBody>
          <a:bodyPr wrap="square" anchor="t" lIns="0" tIns="0" rIns="0" bIns="0">
            <a:noAutofit/>
          </a:bodyPr>
          <a:lstStyle/>
          <a:p>
            <a:pPr algn="l">
              <a:lnSpc>
                <a:spcPts val="1510"/>
              </a:lnSpc>
              <a:spcBef>
                <a:spcPts val="0"/>
              </a:spcBef>
              <a:spcAft>
                <a:spcPts val="0"/>
              </a:spcAft>
            </a:pPr>
            <a:r>
              <a:rPr sz="1200" b="0" i="0">
                <a:solidFill>
                  <a:srgbClr val="4A535E"/>
                </a:solidFill>
                <a:latin typeface="Segoe UI"/>
              </a:rPr>
              <a:t>Redistribution is designed, not built.  ·  “Budget-only cost center” has no agreed definition — we tested the obvious heuristic against the ledger, it was wrong, and the rule ships dormant rather than guessing.  ·  Delegation-of-authority validation needs a data source we don't have.  ·  ~2,800 lines outside the rule engine are still untested.</a:t>
            </a:r>
          </a:p>
        </p:txBody>
      </p:sp>
      <p:sp>
        <p:nvSpPr>
          <p:cNvPr id="20" name="TextBox 19"/>
          <p:cNvSpPr txBox="1"/>
          <p:nvPr/>
        </p:nvSpPr>
        <p:spPr>
          <a:xfrm>
            <a:off x="777240" y="6382512"/>
            <a:ext cx="10637215" cy="274320"/>
          </a:xfrm>
          <a:prstGeom prst="rect">
            <a:avLst/>
          </a:prstGeom>
          <a:noFill/>
        </p:spPr>
        <p:txBody>
          <a:bodyPr wrap="square" anchor="t" lIns="0" tIns="0" rIns="0" bIns="0">
            <a:noAutofit/>
          </a:bodyPr>
          <a:lstStyle/>
          <a:p>
            <a:pPr algn="l">
              <a:lnSpc>
                <a:spcPts val="1080"/>
              </a:lnSpc>
              <a:spcBef>
                <a:spcPts val="0"/>
              </a:spcBef>
              <a:spcAft>
                <a:spcPts val="0"/>
              </a:spcAft>
            </a:pPr>
            <a:r>
              <a:rPr sz="900" b="0" i="0" spc="60">
                <a:solidFill>
                  <a:srgbClr val="7A8290"/>
                </a:solidFill>
                <a:latin typeface="Segoe UI"/>
              </a:rPr>
              <a:t>Reclass Intake  ·  Casey Dobrowolski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D"/>
        </a:solidFill>
        <a:effectLst/>
      </p:bgPr>
    </p:bg>
    <p:spTree>
      <p:nvGrpSpPr>
        <p:cNvPr id="1" name=""/>
        <p:cNvGrpSpPr/>
        <p:nvPr/>
      </p:nvGrpSpPr>
      <p:grpSpPr/>
      <p:sp>
        <p:nvSpPr>
          <p:cNvPr id="2" name="Title 1"/>
          <p:cNvSpPr>
            <a:spLocks noGrp="1"/>
          </p:cNvSpPr>
          <p:nvPr>
            <p:ph type="title"/>
          </p:nvPr>
        </p:nvSpPr>
        <p:spPr>
          <a:xfrm>
            <a:off x="777240" y="786384"/>
            <a:ext cx="10637215" cy="713232"/>
          </a:xfrm>
        </p:spPr>
        <p:txBody>
          <a:bodyPr wrap="square" anchor="t" lIns="0" rIns="0" tIns="0" bIns="0">
            <a:noAutofit/>
          </a:bodyPr>
          <a:lstStyle/>
          <a:p>
            <a:pPr algn="l">
              <a:lnSpc>
                <a:spcPts val="3360"/>
              </a:lnSpc>
            </a:pPr>
            <a:r>
              <a:rPr sz="3000" b="1" spc="-20">
                <a:solidFill>
                  <a:srgbClr val="313A44"/>
                </a:solidFill>
                <a:latin typeface="Georgia"/>
              </a:rPr>
              <a:t>One day, two sprints, zero cloud resources.</a:t>
            </a:r>
          </a:p>
        </p:txBody>
      </p:sp>
      <p:sp>
        <p:nvSpPr>
          <p:cNvPr id="3" name="TextBox 2"/>
          <p:cNvSpPr txBox="1"/>
          <p:nvPr/>
        </p:nvSpPr>
        <p:spPr>
          <a:xfrm>
            <a:off x="777240" y="475488"/>
            <a:ext cx="10637215" cy="256032"/>
          </a:xfrm>
          <a:prstGeom prst="rect">
            <a:avLst/>
          </a:prstGeom>
          <a:noFill/>
        </p:spPr>
        <p:txBody>
          <a:bodyPr wrap="square" anchor="t" lIns="0" tIns="0" rIns="0" bIns="0">
            <a:noAutofit/>
          </a:bodyPr>
          <a:lstStyle/>
          <a:p>
            <a:pPr algn="l">
              <a:lnSpc>
                <a:spcPts val="1260"/>
              </a:lnSpc>
              <a:spcBef>
                <a:spcPts val="0"/>
              </a:spcBef>
              <a:spcAft>
                <a:spcPts val="0"/>
              </a:spcAft>
            </a:pPr>
            <a:r>
              <a:rPr sz="1050" b="1" i="0" spc="140">
                <a:solidFill>
                  <a:srgbClr val="7A8290"/>
                </a:solidFill>
                <a:latin typeface="Segoe UI"/>
              </a:rPr>
              <a:t>BY THE NUMBERS</a:t>
            </a:r>
          </a:p>
        </p:txBody>
      </p:sp>
      <p:sp>
        <p:nvSpPr>
          <p:cNvPr id="4" name="Rectangle 3"/>
          <p:cNvSpPr/>
          <p:nvPr/>
        </p:nvSpPr>
        <p:spPr>
          <a:xfrm>
            <a:off x="777240" y="1591056"/>
            <a:ext cx="1051560" cy="118872"/>
          </a:xfrm>
          <a:prstGeom prst="rect">
            <a:avLst/>
          </a:prstGeom>
          <a:solidFill>
            <a:srgbClr val="EBC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5" name="Table 4"/>
          <p:cNvGraphicFramePr>
            <a:graphicFrameLocks noGrp="1"/>
          </p:cNvGraphicFramePr>
          <p:nvPr/>
        </p:nvGraphicFramePr>
        <p:xfrm>
          <a:off x="777240" y="1975104"/>
          <a:ext cx="7040880" cy="3328416"/>
        </p:xfrm>
        <a:graphic>
          <a:graphicData uri="http://schemas.openxmlformats.org/drawingml/2006/table">
            <a:tbl>
              <a:tblPr firstRow="0" bandRow="0" firstCol="0" lastRow="0" lastCol="0" bandCol="0">
                <a:tableStyleId>{2D5ABB26-0587-4C30-8999-92F81FD0307C}</a:tableStyleId>
              </a:tblPr>
              <a:tblGrid>
                <a:gridCol w="3429000"/>
                <a:gridCol w="3611880"/>
              </a:tblGrid>
              <a:tr h="475488">
                <a:tc>
                  <a:txBody>
                    <a:bodyPr wrap="square"/>
                    <a:lstStyle/>
                    <a:p>
                      <a:pPr algn="r">
                        <a:lnSpc>
                          <a:spcPts val="1510"/>
                        </a:lnSpc>
                        <a:spcBef>
                          <a:spcPts val="0"/>
                        </a:spcBef>
                        <a:spcAft>
                          <a:spcPts val="0"/>
                        </a:spcAft>
                      </a:pPr>
                      <a:r>
                        <a:rPr sz="1300" b="0" i="0">
                          <a:solidFill>
                            <a:srgbClr val="7A8290"/>
                          </a:solidFill>
                          <a:latin typeface="Segoe UI"/>
                        </a:rPr>
                        <a:t>Build time</a:t>
                      </a:r>
                    </a:p>
                  </a:txBody>
                  <a:tcPr marL="128016" marR="128016" marT="54864" marB="54864" anchor="ctr">
                    <a:solidFill>
                      <a:srgbClr val="FFFFFF"/>
                    </a:solidFill>
                  </a:tcPr>
                </a:tc>
                <a:tc>
                  <a:txBody>
                    <a:bodyPr wrap="square"/>
                    <a:lstStyle/>
                    <a:p>
                      <a:pPr algn="l">
                        <a:lnSpc>
                          <a:spcPts val="1620"/>
                        </a:lnSpc>
                        <a:spcBef>
                          <a:spcPts val="0"/>
                        </a:spcBef>
                        <a:spcAft>
                          <a:spcPts val="0"/>
                        </a:spcAft>
                      </a:pPr>
                      <a:r>
                        <a:rPr sz="1400" b="1" i="0">
                          <a:solidFill>
                            <a:srgbClr val="313A44"/>
                          </a:solidFill>
                          <a:latin typeface="Segoe UI"/>
                        </a:rPr>
                        <a:t>One day, two sprints</a:t>
                      </a:r>
                    </a:p>
                  </a:txBody>
                  <a:tcPr marL="128016" marR="128016" marT="54864" marB="54864" anchor="ctr">
                    <a:solidFill>
                      <a:srgbClr val="FBF5D6"/>
                    </a:solidFill>
                  </a:tcPr>
                </a:tc>
              </a:tr>
              <a:tr h="475488">
                <a:tc>
                  <a:txBody>
                    <a:bodyPr wrap="square"/>
                    <a:lstStyle/>
                    <a:p>
                      <a:pPr algn="r">
                        <a:lnSpc>
                          <a:spcPts val="1510"/>
                        </a:lnSpc>
                        <a:spcBef>
                          <a:spcPts val="0"/>
                        </a:spcBef>
                        <a:spcAft>
                          <a:spcPts val="0"/>
                        </a:spcAft>
                      </a:pPr>
                      <a:r>
                        <a:rPr sz="1300" b="0" i="0">
                          <a:solidFill>
                            <a:srgbClr val="7A8290"/>
                          </a:solidFill>
                          <a:latin typeface="Segoe UI"/>
                        </a:rPr>
                        <a:t>Business rules</a:t>
                      </a:r>
                    </a:p>
                  </a:txBody>
                  <a:tcPr marL="128016" marR="128016" marT="54864" marB="54864" anchor="ctr">
                    <a:solidFill>
                      <a:srgbClr val="FFFFFF"/>
                    </a:solidFill>
                  </a:tcPr>
                </a:tc>
                <a:tc>
                  <a:txBody>
                    <a:bodyPr wrap="square"/>
                    <a:lstStyle/>
                    <a:p>
                      <a:pPr algn="l">
                        <a:lnSpc>
                          <a:spcPts val="1620"/>
                        </a:lnSpc>
                        <a:spcBef>
                          <a:spcPts val="0"/>
                        </a:spcBef>
                        <a:spcAft>
                          <a:spcPts val="0"/>
                        </a:spcAft>
                      </a:pPr>
                      <a:r>
                        <a:rPr sz="1400" b="1" i="0">
                          <a:solidFill>
                            <a:srgbClr val="313A44"/>
                          </a:solidFill>
                          <a:latin typeface="Segoe UI"/>
                        </a:rPr>
                        <a:t>16, each citing its source</a:t>
                      </a:r>
                    </a:p>
                  </a:txBody>
                  <a:tcPr marL="128016" marR="128016" marT="54864" marB="54864" anchor="ctr">
                    <a:solidFill>
                      <a:srgbClr val="FBF5D6"/>
                    </a:solidFill>
                  </a:tcPr>
                </a:tc>
              </a:tr>
              <a:tr h="475488">
                <a:tc>
                  <a:txBody>
                    <a:bodyPr wrap="square"/>
                    <a:lstStyle/>
                    <a:p>
                      <a:pPr algn="r">
                        <a:lnSpc>
                          <a:spcPts val="1510"/>
                        </a:lnSpc>
                        <a:spcBef>
                          <a:spcPts val="0"/>
                        </a:spcBef>
                        <a:spcAft>
                          <a:spcPts val="0"/>
                        </a:spcAft>
                      </a:pPr>
                      <a:r>
                        <a:rPr sz="1300" b="0" i="0">
                          <a:solidFill>
                            <a:srgbClr val="7A8290"/>
                          </a:solidFill>
                          <a:latin typeface="Segoe UI"/>
                        </a:rPr>
                        <a:t>Tests</a:t>
                      </a:r>
                    </a:p>
                  </a:txBody>
                  <a:tcPr marL="128016" marR="128016" marT="54864" marB="54864" anchor="ctr">
                    <a:solidFill>
                      <a:srgbClr val="FFFFFF"/>
                    </a:solidFill>
                  </a:tcPr>
                </a:tc>
                <a:tc>
                  <a:txBody>
                    <a:bodyPr wrap="square"/>
                    <a:lstStyle/>
                    <a:p>
                      <a:pPr algn="l">
                        <a:lnSpc>
                          <a:spcPts val="1620"/>
                        </a:lnSpc>
                        <a:spcBef>
                          <a:spcPts val="0"/>
                        </a:spcBef>
                        <a:spcAft>
                          <a:spcPts val="0"/>
                        </a:spcAft>
                      </a:pPr>
                      <a:r>
                        <a:rPr sz="1400" b="1" i="0">
                          <a:solidFill>
                            <a:srgbClr val="313A44"/>
                          </a:solidFill>
                          <a:latin typeface="Segoe UI"/>
                        </a:rPr>
                        <a:t>389</a:t>
                      </a:r>
                    </a:p>
                  </a:txBody>
                  <a:tcPr marL="128016" marR="128016" marT="54864" marB="54864" anchor="ctr">
                    <a:solidFill>
                      <a:srgbClr val="FBF5D6"/>
                    </a:solidFill>
                  </a:tcPr>
                </a:tc>
              </a:tr>
              <a:tr h="475488">
                <a:tc>
                  <a:txBody>
                    <a:bodyPr wrap="square"/>
                    <a:lstStyle/>
                    <a:p>
                      <a:pPr algn="r">
                        <a:lnSpc>
                          <a:spcPts val="1510"/>
                        </a:lnSpc>
                        <a:spcBef>
                          <a:spcPts val="0"/>
                        </a:spcBef>
                        <a:spcAft>
                          <a:spcPts val="0"/>
                        </a:spcAft>
                      </a:pPr>
                      <a:r>
                        <a:rPr sz="1300" b="0" i="0">
                          <a:solidFill>
                            <a:srgbClr val="7A8290"/>
                          </a:solidFill>
                          <a:latin typeface="Segoe UI"/>
                        </a:rPr>
                        <a:t>Agents run in parallel</a:t>
                      </a:r>
                    </a:p>
                  </a:txBody>
                  <a:tcPr marL="128016" marR="128016" marT="54864" marB="54864" anchor="ctr">
                    <a:solidFill>
                      <a:srgbClr val="FFFFFF"/>
                    </a:solidFill>
                  </a:tcPr>
                </a:tc>
                <a:tc>
                  <a:txBody>
                    <a:bodyPr wrap="square"/>
                    <a:lstStyle/>
                    <a:p>
                      <a:pPr algn="l">
                        <a:lnSpc>
                          <a:spcPts val="1620"/>
                        </a:lnSpc>
                        <a:spcBef>
                          <a:spcPts val="0"/>
                        </a:spcBef>
                        <a:spcAft>
                          <a:spcPts val="0"/>
                        </a:spcAft>
                      </a:pPr>
                      <a:r>
                        <a:rPr sz="1400" b="1" i="0">
                          <a:solidFill>
                            <a:srgbClr val="313A44"/>
                          </a:solidFill>
                          <a:latin typeface="Segoe UI"/>
                        </a:rPr>
                        <a:t>4 in Sprint 1, 9 across the day</a:t>
                      </a:r>
                    </a:p>
                  </a:txBody>
                  <a:tcPr marL="128016" marR="128016" marT="54864" marB="54864" anchor="ctr">
                    <a:solidFill>
                      <a:srgbClr val="FBF5D6"/>
                    </a:solidFill>
                  </a:tcPr>
                </a:tc>
              </a:tr>
              <a:tr h="475488">
                <a:tc>
                  <a:txBody>
                    <a:bodyPr wrap="square"/>
                    <a:lstStyle/>
                    <a:p>
                      <a:pPr algn="r">
                        <a:lnSpc>
                          <a:spcPts val="1510"/>
                        </a:lnSpc>
                        <a:spcBef>
                          <a:spcPts val="0"/>
                        </a:spcBef>
                        <a:spcAft>
                          <a:spcPts val="0"/>
                        </a:spcAft>
                      </a:pPr>
                      <a:r>
                        <a:rPr sz="1300" b="0" i="0">
                          <a:solidFill>
                            <a:srgbClr val="7A8290"/>
                          </a:solidFill>
                          <a:latin typeface="Segoe UI"/>
                        </a:rPr>
                        <a:t>Cloud resources provisioned</a:t>
                      </a:r>
                    </a:p>
                  </a:txBody>
                  <a:tcPr marL="128016" marR="128016" marT="54864" marB="54864" anchor="ctr">
                    <a:solidFill>
                      <a:srgbClr val="FFFFFF"/>
                    </a:solidFill>
                  </a:tcPr>
                </a:tc>
                <a:tc>
                  <a:txBody>
                    <a:bodyPr wrap="square"/>
                    <a:lstStyle/>
                    <a:p>
                      <a:pPr algn="l">
                        <a:lnSpc>
                          <a:spcPts val="1620"/>
                        </a:lnSpc>
                        <a:spcBef>
                          <a:spcPts val="0"/>
                        </a:spcBef>
                        <a:spcAft>
                          <a:spcPts val="0"/>
                        </a:spcAft>
                      </a:pPr>
                      <a:r>
                        <a:rPr sz="1400" b="1" i="0">
                          <a:solidFill>
                            <a:srgbClr val="313A44"/>
                          </a:solidFill>
                          <a:latin typeface="Segoe UI"/>
                        </a:rPr>
                        <a:t>0</a:t>
                      </a:r>
                    </a:p>
                  </a:txBody>
                  <a:tcPr marL="128016" marR="128016" marT="54864" marB="54864" anchor="ctr">
                    <a:solidFill>
                      <a:srgbClr val="FBF5D6"/>
                    </a:solidFill>
                  </a:tcPr>
                </a:tc>
              </a:tr>
              <a:tr h="475488">
                <a:tc>
                  <a:txBody>
                    <a:bodyPr wrap="square"/>
                    <a:lstStyle/>
                    <a:p>
                      <a:pPr algn="r">
                        <a:lnSpc>
                          <a:spcPts val="1510"/>
                        </a:lnSpc>
                        <a:spcBef>
                          <a:spcPts val="0"/>
                        </a:spcBef>
                        <a:spcAft>
                          <a:spcPts val="0"/>
                        </a:spcAft>
                      </a:pPr>
                      <a:r>
                        <a:rPr sz="1300" b="0" i="0">
                          <a:solidFill>
                            <a:srgbClr val="7A8290"/>
                          </a:solidFill>
                          <a:latin typeface="Segoe UI"/>
                        </a:rPr>
                        <a:t>Real production data committed</a:t>
                      </a:r>
                    </a:p>
                  </a:txBody>
                  <a:tcPr marL="128016" marR="128016" marT="54864" marB="54864" anchor="ctr">
                    <a:solidFill>
                      <a:srgbClr val="FFFFFF"/>
                    </a:solidFill>
                  </a:tcPr>
                </a:tc>
                <a:tc>
                  <a:txBody>
                    <a:bodyPr wrap="square"/>
                    <a:lstStyle/>
                    <a:p>
                      <a:pPr algn="l">
                        <a:lnSpc>
                          <a:spcPts val="1620"/>
                        </a:lnSpc>
                        <a:spcBef>
                          <a:spcPts val="0"/>
                        </a:spcBef>
                        <a:spcAft>
                          <a:spcPts val="0"/>
                        </a:spcAft>
                      </a:pPr>
                      <a:r>
                        <a:rPr sz="1400" b="1" i="0">
                          <a:solidFill>
                            <a:srgbClr val="313A44"/>
                          </a:solidFill>
                          <a:latin typeface="Segoe UI"/>
                        </a:rPr>
                        <a:t>0 — hook-enforced, test-verified</a:t>
                      </a:r>
                    </a:p>
                  </a:txBody>
                  <a:tcPr marL="128016" marR="128016" marT="54864" marB="54864" anchor="ctr">
                    <a:solidFill>
                      <a:srgbClr val="FBF5D6"/>
                    </a:solidFill>
                  </a:tcPr>
                </a:tc>
              </a:tr>
              <a:tr h="475488">
                <a:tc>
                  <a:txBody>
                    <a:bodyPr wrap="square"/>
                    <a:lstStyle/>
                    <a:p>
                      <a:pPr algn="r">
                        <a:lnSpc>
                          <a:spcPts val="1510"/>
                        </a:lnSpc>
                        <a:spcBef>
                          <a:spcPts val="0"/>
                        </a:spcBef>
                        <a:spcAft>
                          <a:spcPts val="0"/>
                        </a:spcAft>
                      </a:pPr>
                      <a:r>
                        <a:rPr sz="1300" b="0" i="0">
                          <a:solidFill>
                            <a:srgbClr val="7A8290"/>
                          </a:solidFill>
                          <a:latin typeface="Segoe UI"/>
                        </a:rPr>
                        <a:t>Setup for a new user</a:t>
                      </a:r>
                    </a:p>
                  </a:txBody>
                  <a:tcPr marL="128016" marR="128016" marT="54864" marB="54864" anchor="ctr">
                    <a:solidFill>
                      <a:srgbClr val="FFFFFF"/>
                    </a:solidFill>
                  </a:tcPr>
                </a:tc>
                <a:tc>
                  <a:txBody>
                    <a:bodyPr wrap="square"/>
                    <a:lstStyle/>
                    <a:p>
                      <a:pPr algn="l">
                        <a:lnSpc>
                          <a:spcPts val="1620"/>
                        </a:lnSpc>
                        <a:spcBef>
                          <a:spcPts val="0"/>
                        </a:spcBef>
                        <a:spcAft>
                          <a:spcPts val="0"/>
                        </a:spcAft>
                      </a:pPr>
                      <a:r>
                        <a:rPr sz="1400" b="1" i="0">
                          <a:solidFill>
                            <a:srgbClr val="313A44"/>
                          </a:solidFill>
                          <a:latin typeface="Segoe UI"/>
                        </a:rPr>
                        <a:t>2 commands, no credentials</a:t>
                      </a:r>
                    </a:p>
                  </a:txBody>
                  <a:tcPr marL="128016" marR="128016" marT="54864" marB="54864" anchor="ctr">
                    <a:solidFill>
                      <a:srgbClr val="FBF5D6"/>
                    </a:solidFill>
                  </a:tcPr>
                </a:tc>
              </a:tr>
            </a:tbl>
          </a:graphicData>
        </a:graphic>
      </p:graphicFrame>
      <p:sp>
        <p:nvSpPr>
          <p:cNvPr id="6" name="Rectangle 5"/>
          <p:cNvSpPr/>
          <p:nvPr/>
        </p:nvSpPr>
        <p:spPr>
          <a:xfrm>
            <a:off x="8321040" y="1975104"/>
            <a:ext cx="3093415" cy="3328416"/>
          </a:xfrm>
          <a:prstGeom prst="rect">
            <a:avLst/>
          </a:prstGeom>
          <a:solidFill>
            <a:srgbClr val="313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TextBox 6"/>
          <p:cNvSpPr txBox="1"/>
          <p:nvPr/>
        </p:nvSpPr>
        <p:spPr>
          <a:xfrm>
            <a:off x="8577072" y="2176272"/>
            <a:ext cx="2581351" cy="256032"/>
          </a:xfrm>
          <a:prstGeom prst="rect">
            <a:avLst/>
          </a:prstGeom>
          <a:noFill/>
        </p:spPr>
        <p:txBody>
          <a:bodyPr wrap="square" anchor="t" lIns="0" tIns="0" rIns="0" bIns="0">
            <a:noAutofit/>
          </a:bodyPr>
          <a:lstStyle/>
          <a:p>
            <a:pPr algn="l">
              <a:lnSpc>
                <a:spcPts val="1140"/>
              </a:lnSpc>
              <a:spcBef>
                <a:spcPts val="0"/>
              </a:spcBef>
              <a:spcAft>
                <a:spcPts val="0"/>
              </a:spcAft>
            </a:pPr>
            <a:r>
              <a:rPr sz="950" b="1" i="0" spc="140">
                <a:solidFill>
                  <a:srgbClr val="A8B0BA"/>
                </a:solidFill>
                <a:latin typeface="Segoe UI"/>
              </a:rPr>
              <a:t>START HERE</a:t>
            </a:r>
          </a:p>
        </p:txBody>
      </p:sp>
      <p:sp>
        <p:nvSpPr>
          <p:cNvPr id="8" name="TextBox 7"/>
          <p:cNvSpPr txBox="1"/>
          <p:nvPr/>
        </p:nvSpPr>
        <p:spPr>
          <a:xfrm>
            <a:off x="8577072" y="2578608"/>
            <a:ext cx="2581351" cy="237744"/>
          </a:xfrm>
          <a:prstGeom prst="rect">
            <a:avLst/>
          </a:prstGeom>
          <a:noFill/>
        </p:spPr>
        <p:txBody>
          <a:bodyPr wrap="square" anchor="t" lIns="0" tIns="0" rIns="0" bIns="0">
            <a:noAutofit/>
          </a:bodyPr>
          <a:lstStyle/>
          <a:p>
            <a:pPr algn="l">
              <a:lnSpc>
                <a:spcPts val="1320"/>
              </a:lnSpc>
              <a:spcBef>
                <a:spcPts val="0"/>
              </a:spcBef>
              <a:spcAft>
                <a:spcPts val="0"/>
              </a:spcAft>
            </a:pPr>
            <a:r>
              <a:rPr sz="1100" b="1" i="0">
                <a:solidFill>
                  <a:srgbClr val="ECEAE4"/>
                </a:solidFill>
                <a:latin typeface="Consolas"/>
              </a:rPr>
              <a:t>backend/rules.py</a:t>
            </a:r>
          </a:p>
        </p:txBody>
      </p:sp>
      <p:sp>
        <p:nvSpPr>
          <p:cNvPr id="9" name="TextBox 8"/>
          <p:cNvSpPr txBox="1"/>
          <p:nvPr/>
        </p:nvSpPr>
        <p:spPr>
          <a:xfrm>
            <a:off x="8577072" y="2816352"/>
            <a:ext cx="2581351" cy="237744"/>
          </a:xfrm>
          <a:prstGeom prst="rect">
            <a:avLst/>
          </a:prstGeom>
          <a:noFill/>
        </p:spPr>
        <p:txBody>
          <a:bodyPr wrap="square" anchor="t" lIns="0" tIns="0" rIns="0" bIns="0">
            <a:noAutofit/>
          </a:bodyPr>
          <a:lstStyle/>
          <a:p>
            <a:pPr algn="l">
              <a:lnSpc>
                <a:spcPts val="1320"/>
              </a:lnSpc>
              <a:spcBef>
                <a:spcPts val="0"/>
              </a:spcBef>
              <a:spcAft>
                <a:spcPts val="0"/>
              </a:spcAft>
            </a:pPr>
            <a:r>
              <a:rPr sz="1100" b="0" i="0">
                <a:solidFill>
                  <a:srgbClr val="A8B0BA"/>
                </a:solidFill>
                <a:latin typeface="Segoe UI"/>
              </a:rPr>
              <a:t>16 rules, each citing its source</a:t>
            </a:r>
          </a:p>
        </p:txBody>
      </p:sp>
      <p:sp>
        <p:nvSpPr>
          <p:cNvPr id="10" name="TextBox 9"/>
          <p:cNvSpPr txBox="1"/>
          <p:nvPr/>
        </p:nvSpPr>
        <p:spPr>
          <a:xfrm>
            <a:off x="8577072" y="3200400"/>
            <a:ext cx="2581351" cy="237744"/>
          </a:xfrm>
          <a:prstGeom prst="rect">
            <a:avLst/>
          </a:prstGeom>
          <a:noFill/>
        </p:spPr>
        <p:txBody>
          <a:bodyPr wrap="square" anchor="t" lIns="0" tIns="0" rIns="0" bIns="0">
            <a:noAutofit/>
          </a:bodyPr>
          <a:lstStyle/>
          <a:p>
            <a:pPr algn="l">
              <a:lnSpc>
                <a:spcPts val="1320"/>
              </a:lnSpc>
              <a:spcBef>
                <a:spcPts val="0"/>
              </a:spcBef>
              <a:spcAft>
                <a:spcPts val="0"/>
              </a:spcAft>
            </a:pPr>
            <a:r>
              <a:rPr sz="1100" b="1" i="0">
                <a:solidFill>
                  <a:srgbClr val="ECEAE4"/>
                </a:solidFill>
                <a:latin typeface="Consolas"/>
              </a:rPr>
              <a:t>.claude/</a:t>
            </a:r>
          </a:p>
        </p:txBody>
      </p:sp>
      <p:sp>
        <p:nvSpPr>
          <p:cNvPr id="11" name="TextBox 10"/>
          <p:cNvSpPr txBox="1"/>
          <p:nvPr/>
        </p:nvSpPr>
        <p:spPr>
          <a:xfrm>
            <a:off x="8577072" y="3438144"/>
            <a:ext cx="2581351" cy="237744"/>
          </a:xfrm>
          <a:prstGeom prst="rect">
            <a:avLst/>
          </a:prstGeom>
          <a:noFill/>
        </p:spPr>
        <p:txBody>
          <a:bodyPr wrap="square" anchor="t" lIns="0" tIns="0" rIns="0" bIns="0">
            <a:noAutofit/>
          </a:bodyPr>
          <a:lstStyle/>
          <a:p>
            <a:pPr algn="l">
              <a:lnSpc>
                <a:spcPts val="1320"/>
              </a:lnSpc>
              <a:spcBef>
                <a:spcPts val="0"/>
              </a:spcBef>
              <a:spcAft>
                <a:spcPts val="0"/>
              </a:spcAft>
            </a:pPr>
            <a:r>
              <a:rPr sz="1100" b="0" i="0">
                <a:solidFill>
                  <a:srgbClr val="A8B0BA"/>
                </a:solidFill>
                <a:latin typeface="Segoe UI"/>
              </a:rPr>
              <a:t>the hook, the agents, the skill</a:t>
            </a:r>
          </a:p>
        </p:txBody>
      </p:sp>
      <p:sp>
        <p:nvSpPr>
          <p:cNvPr id="12" name="TextBox 11"/>
          <p:cNvSpPr txBox="1"/>
          <p:nvPr/>
        </p:nvSpPr>
        <p:spPr>
          <a:xfrm>
            <a:off x="8577072" y="3822191"/>
            <a:ext cx="2581351" cy="237744"/>
          </a:xfrm>
          <a:prstGeom prst="rect">
            <a:avLst/>
          </a:prstGeom>
          <a:noFill/>
        </p:spPr>
        <p:txBody>
          <a:bodyPr wrap="square" anchor="t" lIns="0" tIns="0" rIns="0" bIns="0">
            <a:noAutofit/>
          </a:bodyPr>
          <a:lstStyle/>
          <a:p>
            <a:pPr algn="l">
              <a:lnSpc>
                <a:spcPts val="1320"/>
              </a:lnSpc>
              <a:spcBef>
                <a:spcPts val="0"/>
              </a:spcBef>
              <a:spcAft>
                <a:spcPts val="0"/>
              </a:spcAft>
            </a:pPr>
            <a:r>
              <a:rPr sz="1100" b="1" i="0">
                <a:solidFill>
                  <a:srgbClr val="ECEAE4"/>
                </a:solidFill>
                <a:latin typeface="Consolas"/>
              </a:rPr>
              <a:t>README.md</a:t>
            </a:r>
          </a:p>
        </p:txBody>
      </p:sp>
      <p:sp>
        <p:nvSpPr>
          <p:cNvPr id="13" name="TextBox 12"/>
          <p:cNvSpPr txBox="1"/>
          <p:nvPr/>
        </p:nvSpPr>
        <p:spPr>
          <a:xfrm>
            <a:off x="8577072" y="4059935"/>
            <a:ext cx="2581351" cy="237744"/>
          </a:xfrm>
          <a:prstGeom prst="rect">
            <a:avLst/>
          </a:prstGeom>
          <a:noFill/>
        </p:spPr>
        <p:txBody>
          <a:bodyPr wrap="square" anchor="t" lIns="0" tIns="0" rIns="0" bIns="0">
            <a:noAutofit/>
          </a:bodyPr>
          <a:lstStyle/>
          <a:p>
            <a:pPr algn="l">
              <a:lnSpc>
                <a:spcPts val="1320"/>
              </a:lnSpc>
              <a:spcBef>
                <a:spcPts val="0"/>
              </a:spcBef>
              <a:spcAft>
                <a:spcPts val="0"/>
              </a:spcAft>
            </a:pPr>
            <a:r>
              <a:rPr sz="1100" b="0" i="0">
                <a:solidFill>
                  <a:srgbClr val="A8B0BA"/>
                </a:solidFill>
                <a:latin typeface="Segoe UI"/>
              </a:rPr>
              <a:t>two commands, no credentials</a:t>
            </a:r>
          </a:p>
        </p:txBody>
      </p:sp>
      <p:sp>
        <p:nvSpPr>
          <p:cNvPr id="14" name="TextBox 13"/>
          <p:cNvSpPr txBox="1"/>
          <p:nvPr/>
        </p:nvSpPr>
        <p:spPr>
          <a:xfrm>
            <a:off x="8577072" y="4443983"/>
            <a:ext cx="2581351" cy="237744"/>
          </a:xfrm>
          <a:prstGeom prst="rect">
            <a:avLst/>
          </a:prstGeom>
          <a:noFill/>
        </p:spPr>
        <p:txBody>
          <a:bodyPr wrap="square" anchor="t" lIns="0" tIns="0" rIns="0" bIns="0">
            <a:noAutofit/>
          </a:bodyPr>
          <a:lstStyle/>
          <a:p>
            <a:pPr algn="l">
              <a:lnSpc>
                <a:spcPts val="1320"/>
              </a:lnSpc>
              <a:spcBef>
                <a:spcPts val="0"/>
              </a:spcBef>
              <a:spcAft>
                <a:spcPts val="0"/>
              </a:spcAft>
            </a:pPr>
            <a:r>
              <a:rPr sz="1100" b="1" i="0">
                <a:solidFill>
                  <a:srgbClr val="ECEAE4"/>
                </a:solidFill>
                <a:latin typeface="Consolas"/>
              </a:rPr>
              <a:t>docs/EXECUTIVE-SUMMARY.md</a:t>
            </a:r>
          </a:p>
        </p:txBody>
      </p:sp>
      <p:sp>
        <p:nvSpPr>
          <p:cNvPr id="15" name="TextBox 14"/>
          <p:cNvSpPr txBox="1"/>
          <p:nvPr/>
        </p:nvSpPr>
        <p:spPr>
          <a:xfrm>
            <a:off x="8577072" y="4681727"/>
            <a:ext cx="2581351" cy="237744"/>
          </a:xfrm>
          <a:prstGeom prst="rect">
            <a:avLst/>
          </a:prstGeom>
          <a:noFill/>
        </p:spPr>
        <p:txBody>
          <a:bodyPr wrap="square" anchor="t" lIns="0" tIns="0" rIns="0" bIns="0">
            <a:noAutofit/>
          </a:bodyPr>
          <a:lstStyle/>
          <a:p>
            <a:pPr algn="l">
              <a:lnSpc>
                <a:spcPts val="1320"/>
              </a:lnSpc>
              <a:spcBef>
                <a:spcPts val="0"/>
              </a:spcBef>
              <a:spcAft>
                <a:spcPts val="0"/>
              </a:spcAft>
            </a:pPr>
            <a:r>
              <a:rPr sz="1100" b="0" i="0">
                <a:solidFill>
                  <a:srgbClr val="A8B0BA"/>
                </a:solidFill>
                <a:latin typeface="Segoe UI"/>
              </a:rPr>
              <a:t>the written submission</a:t>
            </a:r>
          </a:p>
        </p:txBody>
      </p:sp>
      <p:sp>
        <p:nvSpPr>
          <p:cNvPr id="16" name="TextBox 15"/>
          <p:cNvSpPr txBox="1"/>
          <p:nvPr/>
        </p:nvSpPr>
        <p:spPr>
          <a:xfrm>
            <a:off x="777240" y="5468112"/>
            <a:ext cx="10637215" cy="365760"/>
          </a:xfrm>
          <a:prstGeom prst="rect">
            <a:avLst/>
          </a:prstGeom>
          <a:noFill/>
        </p:spPr>
        <p:txBody>
          <a:bodyPr wrap="square" anchor="t" lIns="0" tIns="0" rIns="0" bIns="0">
            <a:noAutofit/>
          </a:bodyPr>
          <a:lstStyle/>
          <a:p>
            <a:pPr algn="l">
              <a:lnSpc>
                <a:spcPts val="1560"/>
              </a:lnSpc>
              <a:spcBef>
                <a:spcPts val="0"/>
              </a:spcBef>
              <a:spcAft>
                <a:spcPts val="0"/>
              </a:spcAft>
            </a:pPr>
            <a:r>
              <a:rPr sz="1300" b="0" i="0">
                <a:solidFill>
                  <a:srgbClr val="7A8290"/>
                </a:solidFill>
                <a:latin typeface="Segoe UI"/>
              </a:rPr>
              <a:t>The zeroes are the load-bearing ones: nothing was provisioned, and no real financial data can enter the repository.</a:t>
            </a:r>
          </a:p>
        </p:txBody>
      </p:sp>
      <p:sp>
        <p:nvSpPr>
          <p:cNvPr id="17" name="TextBox 16"/>
          <p:cNvSpPr txBox="1"/>
          <p:nvPr/>
        </p:nvSpPr>
        <p:spPr>
          <a:xfrm>
            <a:off x="777240" y="6382512"/>
            <a:ext cx="10637215" cy="274320"/>
          </a:xfrm>
          <a:prstGeom prst="rect">
            <a:avLst/>
          </a:prstGeom>
          <a:noFill/>
        </p:spPr>
        <p:txBody>
          <a:bodyPr wrap="square" anchor="t" lIns="0" tIns="0" rIns="0" bIns="0">
            <a:noAutofit/>
          </a:bodyPr>
          <a:lstStyle/>
          <a:p>
            <a:pPr algn="l">
              <a:lnSpc>
                <a:spcPts val="1080"/>
              </a:lnSpc>
              <a:spcBef>
                <a:spcPts val="0"/>
              </a:spcBef>
              <a:spcAft>
                <a:spcPts val="0"/>
              </a:spcAft>
            </a:pPr>
            <a:r>
              <a:rPr sz="900" b="0" i="0" spc="60">
                <a:solidFill>
                  <a:srgbClr val="7A8290"/>
                </a:solidFill>
                <a:latin typeface="Segoe UI"/>
              </a:rPr>
              <a:t>Reclass Intake  ·  Casey Dobrowolski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